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2.png"/><Relationship Id="rId8" Type="http://schemas.openxmlformats.org/officeDocument/2006/relationships/image" Target="../media/image-2-3.png"/><Relationship Id="rId9" Type="http://schemas.openxmlformats.org/officeDocument/2006/relationships/image" Target="../media/image-2-5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image" Target="../media/image-15-1.png"/><Relationship Id="rId5" Type="http://schemas.openxmlformats.org/officeDocument/2006/relationships/image" Target="../media/image-15-1.png"/><Relationship Id="rId6" Type="http://schemas.openxmlformats.org/officeDocument/2006/relationships/image" Target="../media/image-15-6.png"/><Relationship Id="rId7" Type="http://schemas.openxmlformats.org/officeDocument/2006/relationships/image" Target="../media/image-15-6.png"/><Relationship Id="rId8" Type="http://schemas.openxmlformats.org/officeDocument/2006/relationships/image" Target="../media/image-15-6.png"/><Relationship Id="rId9" Type="http://schemas.openxmlformats.org/officeDocument/2006/relationships/image" Target="../media/image-15-6.png"/><Relationship Id="rId10" Type="http://schemas.openxmlformats.org/officeDocument/2006/relationships/image" Target="../media/image-15-6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B1F"/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5486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10058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5" name="Shape 3"/>
          <p:cNvSpPr/>
          <p:nvPr/>
        </p:nvSpPr>
        <p:spPr>
          <a:xfrm>
            <a:off x="8138160" y="14630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6" name="Shape 4"/>
          <p:cNvSpPr/>
          <p:nvPr/>
        </p:nvSpPr>
        <p:spPr>
          <a:xfrm>
            <a:off x="8138160" y="19202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7" name="Shape 5"/>
          <p:cNvSpPr/>
          <p:nvPr/>
        </p:nvSpPr>
        <p:spPr>
          <a:xfrm>
            <a:off x="8138160" y="23774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8" name="Shape 6"/>
          <p:cNvSpPr/>
          <p:nvPr/>
        </p:nvSpPr>
        <p:spPr>
          <a:xfrm>
            <a:off x="8138160" y="28346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0" y="32918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7490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11" name="Shape 9"/>
          <p:cNvSpPr/>
          <p:nvPr/>
        </p:nvSpPr>
        <p:spPr>
          <a:xfrm>
            <a:off x="8595360" y="5486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12" name="Shape 10"/>
          <p:cNvSpPr/>
          <p:nvPr/>
        </p:nvSpPr>
        <p:spPr>
          <a:xfrm>
            <a:off x="8595360" y="10058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13" name="Shape 11"/>
          <p:cNvSpPr/>
          <p:nvPr/>
        </p:nvSpPr>
        <p:spPr>
          <a:xfrm>
            <a:off x="8595360" y="14630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14" name="Shape 12"/>
          <p:cNvSpPr/>
          <p:nvPr/>
        </p:nvSpPr>
        <p:spPr>
          <a:xfrm>
            <a:off x="8595360" y="19202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15" name="Shape 13"/>
          <p:cNvSpPr/>
          <p:nvPr/>
        </p:nvSpPr>
        <p:spPr>
          <a:xfrm>
            <a:off x="8595360" y="23774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16" name="Shape 14"/>
          <p:cNvSpPr/>
          <p:nvPr/>
        </p:nvSpPr>
        <p:spPr>
          <a:xfrm>
            <a:off x="8595360" y="28346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17" name="Shape 15"/>
          <p:cNvSpPr/>
          <p:nvPr/>
        </p:nvSpPr>
        <p:spPr>
          <a:xfrm>
            <a:off x="8595360" y="32918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18" name="Shape 16"/>
          <p:cNvSpPr/>
          <p:nvPr/>
        </p:nvSpPr>
        <p:spPr>
          <a:xfrm>
            <a:off x="8595360" y="37490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19" name="Shape 17"/>
          <p:cNvSpPr/>
          <p:nvPr/>
        </p:nvSpPr>
        <p:spPr>
          <a:xfrm>
            <a:off x="9052560" y="5486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20" name="Shape 18"/>
          <p:cNvSpPr/>
          <p:nvPr/>
        </p:nvSpPr>
        <p:spPr>
          <a:xfrm>
            <a:off x="9052560" y="10058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21" name="Shape 19"/>
          <p:cNvSpPr/>
          <p:nvPr/>
        </p:nvSpPr>
        <p:spPr>
          <a:xfrm>
            <a:off x="9052560" y="14630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22" name="Shape 20"/>
          <p:cNvSpPr/>
          <p:nvPr/>
        </p:nvSpPr>
        <p:spPr>
          <a:xfrm>
            <a:off x="9052560" y="19202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23" name="Shape 21"/>
          <p:cNvSpPr/>
          <p:nvPr/>
        </p:nvSpPr>
        <p:spPr>
          <a:xfrm>
            <a:off x="9052560" y="23774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24" name="Shape 22"/>
          <p:cNvSpPr/>
          <p:nvPr/>
        </p:nvSpPr>
        <p:spPr>
          <a:xfrm>
            <a:off x="9052560" y="28346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25" name="Shape 23"/>
          <p:cNvSpPr/>
          <p:nvPr/>
        </p:nvSpPr>
        <p:spPr>
          <a:xfrm>
            <a:off x="9052560" y="32918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26" name="Shape 24"/>
          <p:cNvSpPr/>
          <p:nvPr/>
        </p:nvSpPr>
        <p:spPr>
          <a:xfrm>
            <a:off x="9052560" y="37490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27" name="Shape 25"/>
          <p:cNvSpPr/>
          <p:nvPr/>
        </p:nvSpPr>
        <p:spPr>
          <a:xfrm>
            <a:off x="9509760" y="5486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28" name="Shape 26"/>
          <p:cNvSpPr/>
          <p:nvPr/>
        </p:nvSpPr>
        <p:spPr>
          <a:xfrm>
            <a:off x="9509760" y="10058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29" name="Shape 27"/>
          <p:cNvSpPr/>
          <p:nvPr/>
        </p:nvSpPr>
        <p:spPr>
          <a:xfrm>
            <a:off x="9509760" y="14630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30" name="Shape 28"/>
          <p:cNvSpPr/>
          <p:nvPr/>
        </p:nvSpPr>
        <p:spPr>
          <a:xfrm>
            <a:off x="9509760" y="19202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31" name="Shape 29"/>
          <p:cNvSpPr/>
          <p:nvPr/>
        </p:nvSpPr>
        <p:spPr>
          <a:xfrm>
            <a:off x="9509760" y="23774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32" name="Shape 30"/>
          <p:cNvSpPr/>
          <p:nvPr/>
        </p:nvSpPr>
        <p:spPr>
          <a:xfrm>
            <a:off x="9509760" y="28346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33" name="Shape 31"/>
          <p:cNvSpPr/>
          <p:nvPr/>
        </p:nvSpPr>
        <p:spPr>
          <a:xfrm>
            <a:off x="9509760" y="32918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34" name="Shape 32"/>
          <p:cNvSpPr/>
          <p:nvPr/>
        </p:nvSpPr>
        <p:spPr>
          <a:xfrm>
            <a:off x="9509760" y="37490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35" name="Shape 33"/>
          <p:cNvSpPr/>
          <p:nvPr/>
        </p:nvSpPr>
        <p:spPr>
          <a:xfrm>
            <a:off x="9966960" y="5486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36" name="Shape 34"/>
          <p:cNvSpPr/>
          <p:nvPr/>
        </p:nvSpPr>
        <p:spPr>
          <a:xfrm>
            <a:off x="9966960" y="10058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37" name="Shape 35"/>
          <p:cNvSpPr/>
          <p:nvPr/>
        </p:nvSpPr>
        <p:spPr>
          <a:xfrm>
            <a:off x="9966960" y="14630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38" name="Shape 36"/>
          <p:cNvSpPr/>
          <p:nvPr/>
        </p:nvSpPr>
        <p:spPr>
          <a:xfrm>
            <a:off x="9966960" y="19202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39" name="Shape 37"/>
          <p:cNvSpPr/>
          <p:nvPr/>
        </p:nvSpPr>
        <p:spPr>
          <a:xfrm>
            <a:off x="9966960" y="23774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40" name="Shape 38"/>
          <p:cNvSpPr/>
          <p:nvPr/>
        </p:nvSpPr>
        <p:spPr>
          <a:xfrm>
            <a:off x="9966960" y="28346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41" name="Shape 39"/>
          <p:cNvSpPr/>
          <p:nvPr/>
        </p:nvSpPr>
        <p:spPr>
          <a:xfrm>
            <a:off x="9966960" y="32918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42" name="Shape 40"/>
          <p:cNvSpPr/>
          <p:nvPr/>
        </p:nvSpPr>
        <p:spPr>
          <a:xfrm>
            <a:off x="9966960" y="37490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43" name="Shape 41"/>
          <p:cNvSpPr/>
          <p:nvPr/>
        </p:nvSpPr>
        <p:spPr>
          <a:xfrm>
            <a:off x="10424160" y="5486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44" name="Shape 42"/>
          <p:cNvSpPr/>
          <p:nvPr/>
        </p:nvSpPr>
        <p:spPr>
          <a:xfrm>
            <a:off x="10424160" y="10058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45" name="Shape 43"/>
          <p:cNvSpPr/>
          <p:nvPr/>
        </p:nvSpPr>
        <p:spPr>
          <a:xfrm>
            <a:off x="10424160" y="14630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46" name="Shape 44"/>
          <p:cNvSpPr/>
          <p:nvPr/>
        </p:nvSpPr>
        <p:spPr>
          <a:xfrm>
            <a:off x="10424160" y="19202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47" name="Shape 45"/>
          <p:cNvSpPr/>
          <p:nvPr/>
        </p:nvSpPr>
        <p:spPr>
          <a:xfrm>
            <a:off x="10424160" y="23774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48" name="Shape 46"/>
          <p:cNvSpPr/>
          <p:nvPr/>
        </p:nvSpPr>
        <p:spPr>
          <a:xfrm>
            <a:off x="10424160" y="28346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49" name="Shape 47"/>
          <p:cNvSpPr/>
          <p:nvPr/>
        </p:nvSpPr>
        <p:spPr>
          <a:xfrm>
            <a:off x="10424160" y="32918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50" name="Shape 48"/>
          <p:cNvSpPr/>
          <p:nvPr/>
        </p:nvSpPr>
        <p:spPr>
          <a:xfrm>
            <a:off x="10424160" y="37490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51" name="Shape 49"/>
          <p:cNvSpPr/>
          <p:nvPr/>
        </p:nvSpPr>
        <p:spPr>
          <a:xfrm>
            <a:off x="10881360" y="5486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52" name="Shape 50"/>
          <p:cNvSpPr/>
          <p:nvPr/>
        </p:nvSpPr>
        <p:spPr>
          <a:xfrm>
            <a:off x="10881360" y="10058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53" name="Shape 51"/>
          <p:cNvSpPr/>
          <p:nvPr/>
        </p:nvSpPr>
        <p:spPr>
          <a:xfrm>
            <a:off x="10881360" y="14630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54" name="Shape 52"/>
          <p:cNvSpPr/>
          <p:nvPr/>
        </p:nvSpPr>
        <p:spPr>
          <a:xfrm>
            <a:off x="10881360" y="19202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55" name="Shape 53"/>
          <p:cNvSpPr/>
          <p:nvPr/>
        </p:nvSpPr>
        <p:spPr>
          <a:xfrm>
            <a:off x="10881360" y="23774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56" name="Shape 54"/>
          <p:cNvSpPr/>
          <p:nvPr/>
        </p:nvSpPr>
        <p:spPr>
          <a:xfrm>
            <a:off x="10881360" y="28346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57" name="Shape 55"/>
          <p:cNvSpPr/>
          <p:nvPr/>
        </p:nvSpPr>
        <p:spPr>
          <a:xfrm>
            <a:off x="10881360" y="32918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58" name="Shape 56"/>
          <p:cNvSpPr/>
          <p:nvPr/>
        </p:nvSpPr>
        <p:spPr>
          <a:xfrm>
            <a:off x="10881360" y="37490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59" name="Shape 57"/>
          <p:cNvSpPr/>
          <p:nvPr/>
        </p:nvSpPr>
        <p:spPr>
          <a:xfrm>
            <a:off x="11338560" y="5486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60" name="Shape 58"/>
          <p:cNvSpPr/>
          <p:nvPr/>
        </p:nvSpPr>
        <p:spPr>
          <a:xfrm>
            <a:off x="11338560" y="10058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61" name="Shape 59"/>
          <p:cNvSpPr/>
          <p:nvPr/>
        </p:nvSpPr>
        <p:spPr>
          <a:xfrm>
            <a:off x="11338560" y="14630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62" name="Shape 60"/>
          <p:cNvSpPr/>
          <p:nvPr/>
        </p:nvSpPr>
        <p:spPr>
          <a:xfrm>
            <a:off x="11338560" y="19202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63" name="Shape 61"/>
          <p:cNvSpPr/>
          <p:nvPr/>
        </p:nvSpPr>
        <p:spPr>
          <a:xfrm>
            <a:off x="11338560" y="23774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64" name="Shape 62"/>
          <p:cNvSpPr/>
          <p:nvPr/>
        </p:nvSpPr>
        <p:spPr>
          <a:xfrm>
            <a:off x="11338560" y="28346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65" name="Shape 63"/>
          <p:cNvSpPr/>
          <p:nvPr/>
        </p:nvSpPr>
        <p:spPr>
          <a:xfrm>
            <a:off x="11338560" y="32918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66" name="Shape 64"/>
          <p:cNvSpPr/>
          <p:nvPr/>
        </p:nvSpPr>
        <p:spPr>
          <a:xfrm>
            <a:off x="11338560" y="374904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67" name="Shape 65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19050">
            <a:solidFill>
              <a:srgbClr val="23282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64692" y="6318504"/>
            <a:ext cx="82296" cy="82296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69" name="Shape 67"/>
          <p:cNvSpPr/>
          <p:nvPr/>
        </p:nvSpPr>
        <p:spPr>
          <a:xfrm>
            <a:off x="3067812" y="6318504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0" name="Shape 68"/>
          <p:cNvSpPr/>
          <p:nvPr/>
        </p:nvSpPr>
        <p:spPr>
          <a:xfrm>
            <a:off x="5170932" y="6318504"/>
            <a:ext cx="82296" cy="82296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71" name="Shape 69"/>
          <p:cNvSpPr/>
          <p:nvPr/>
        </p:nvSpPr>
        <p:spPr>
          <a:xfrm>
            <a:off x="7274052" y="6318504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2" name="Shape 70"/>
          <p:cNvSpPr/>
          <p:nvPr/>
        </p:nvSpPr>
        <p:spPr>
          <a:xfrm>
            <a:off x="9377172" y="6318504"/>
            <a:ext cx="82296" cy="82296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73" name="Shape 71"/>
          <p:cNvSpPr/>
          <p:nvPr/>
        </p:nvSpPr>
        <p:spPr>
          <a:xfrm>
            <a:off x="11023092" y="6318504"/>
            <a:ext cx="82296" cy="822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4" name="Text 72"/>
          <p:cNvSpPr/>
          <p:nvPr/>
        </p:nvSpPr>
        <p:spPr>
          <a:xfrm>
            <a:off x="594360" y="23317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•  ELECTRICITY DEMAND ANALYSIS  •  POWER BI DASHBOARD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548640" y="2697480"/>
            <a:ext cx="9875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GRID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DEMAND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4600" dirty="0"/>
          </a:p>
        </p:txBody>
      </p:sp>
      <p:sp>
        <p:nvSpPr>
          <p:cNvPr id="76" name="Shape 74"/>
          <p:cNvSpPr/>
          <p:nvPr/>
        </p:nvSpPr>
        <p:spPr>
          <a:xfrm>
            <a:off x="10195560" y="685800"/>
            <a:ext cx="1051560" cy="105156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77" name="Image 0" descr="/home/claude/smartgrid_ppt/icons/bolt_grap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8966" y="959206"/>
            <a:ext cx="504749" cy="504749"/>
          </a:xfrm>
          <a:prstGeom prst="rect">
            <a:avLst/>
          </a:prstGeom>
        </p:spPr>
      </p:pic>
      <p:sp>
        <p:nvSpPr>
          <p:cNvPr id="78" name="Shape 75"/>
          <p:cNvSpPr/>
          <p:nvPr/>
        </p:nvSpPr>
        <p:spPr>
          <a:xfrm>
            <a:off x="594360" y="5257800"/>
            <a:ext cx="914400" cy="0"/>
          </a:xfrm>
          <a:prstGeom prst="line">
            <a:avLst/>
          </a:prstGeom>
          <a:noFill/>
          <a:ln w="38100">
            <a:solidFill>
              <a:srgbClr val="F4B942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548640" y="5349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P</a:t>
            </a:r>
            <a:endParaRPr lang="en-US" sz="1800" dirty="0"/>
          </a:p>
        </p:txBody>
      </p:sp>
      <p:sp>
        <p:nvSpPr>
          <p:cNvPr id="80" name="Text 77"/>
          <p:cNvSpPr/>
          <p:nvPr/>
        </p:nvSpPr>
        <p:spPr>
          <a:xfrm>
            <a:off x="548640" y="568756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 |  BCom (CA)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rgbClr val="00A6A6"/>
          </a:solidFill>
          <a:ln/>
        </p:spPr>
      </p:sp>
      <p:pic>
        <p:nvPicPr>
          <p:cNvPr id="7" name="Image 0" descr="/home/claude/smartgrid_ppt/icons/c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" y="1997964"/>
            <a:ext cx="210312" cy="210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856232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changes constantly, shaped by time, season, weather, and consumer behavior.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2624328"/>
            <a:ext cx="457200" cy="457200"/>
          </a:xfrm>
          <a:prstGeom prst="ellipse">
            <a:avLst/>
          </a:prstGeom>
          <a:solidFill>
            <a:srgbClr val="00A6A6"/>
          </a:solidFill>
          <a:ln/>
        </p:spPr>
      </p:sp>
      <p:pic>
        <p:nvPicPr>
          <p:cNvPr id="10" name="Image 1" descr="/home/claude/smartgrid_ppt/icons/barcha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2747772"/>
            <a:ext cx="210312" cy="2103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60604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 reveals recurring consumption patterns across hours and days.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3374136"/>
            <a:ext cx="457200" cy="457200"/>
          </a:xfrm>
          <a:prstGeom prst="ellipse">
            <a:avLst/>
          </a:prstGeom>
          <a:solidFill>
            <a:srgbClr val="00A6A6"/>
          </a:solidFill>
          <a:ln/>
        </p:spPr>
      </p:sp>
      <p:pic>
        <p:nvPicPr>
          <p:cNvPr id="13" name="Image 2" descr="/home/claude/smartgrid_ppt/icons/cpu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3497580"/>
            <a:ext cx="210312" cy="2103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335584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turns raw electricity records into usable operational insight.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548640" y="4123944"/>
            <a:ext cx="457200" cy="457200"/>
          </a:xfrm>
          <a:prstGeom prst="ellipse">
            <a:avLst/>
          </a:prstGeom>
          <a:solidFill>
            <a:srgbClr val="00A6A6"/>
          </a:solidFill>
          <a:ln/>
        </p:spPr>
      </p:sp>
      <p:pic>
        <p:nvPicPr>
          <p:cNvPr id="16" name="Image 3" descr="/home/claude/smartgrid_ppt/icons/trendup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4247388"/>
            <a:ext cx="210312" cy="2103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88720" y="4105656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extends that insight into forecasts of future demand.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548640" y="4873752"/>
            <a:ext cx="457200" cy="457200"/>
          </a:xfrm>
          <a:prstGeom prst="ellipse">
            <a:avLst/>
          </a:prstGeom>
          <a:solidFill>
            <a:srgbClr val="00A6A6"/>
          </a:solidFill>
          <a:ln/>
        </p:spPr>
      </p:sp>
      <p:pic>
        <p:nvPicPr>
          <p:cNvPr id="19" name="Image 4" descr="/home/claude/smartgrid_ppt/icons/monito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" y="4997196"/>
            <a:ext cx="210312" cy="2103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88720" y="4855464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packages the analysis into an interactive decision-support dashboard.</a:t>
            </a:r>
            <a:endParaRPr lang="en-US" sz="1350" dirty="0"/>
          </a:p>
        </p:txBody>
      </p:sp>
      <p:sp>
        <p:nvSpPr>
          <p:cNvPr id="21" name="Shape 14"/>
          <p:cNvSpPr/>
          <p:nvPr/>
        </p:nvSpPr>
        <p:spPr>
          <a:xfrm>
            <a:off x="7635240" y="1783080"/>
            <a:ext cx="397764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22" name="Text 15"/>
          <p:cNvSpPr/>
          <p:nvPr/>
        </p:nvSpPr>
        <p:spPr>
          <a:xfrm>
            <a:off x="7909560" y="1965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TO DECISIONS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7909560" y="2423160"/>
            <a:ext cx="502920" cy="502920"/>
          </a:xfrm>
          <a:prstGeom prst="ellipse">
            <a:avLst/>
          </a:prstGeom>
          <a:solidFill>
            <a:srgbClr val="23282D"/>
          </a:solidFill>
          <a:ln/>
        </p:spPr>
      </p:sp>
      <p:pic>
        <p:nvPicPr>
          <p:cNvPr id="24" name="Image 5" descr="/home/claude/smartgrid_ppt/icons/databas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5348" y="2558948"/>
            <a:ext cx="231343" cy="231343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549640" y="244144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Data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8161020" y="2926080"/>
            <a:ext cx="0" cy="320040"/>
          </a:xfrm>
          <a:prstGeom prst="line">
            <a:avLst/>
          </a:prstGeom>
          <a:noFill/>
          <a:ln w="25400">
            <a:solidFill>
              <a:srgbClr val="D9DEDF"/>
            </a:solidFill>
            <a:prstDash val="dash"/>
          </a:ln>
        </p:spPr>
      </p:sp>
      <p:sp>
        <p:nvSpPr>
          <p:cNvPr id="27" name="Shape 19"/>
          <p:cNvSpPr/>
          <p:nvPr/>
        </p:nvSpPr>
        <p:spPr>
          <a:xfrm>
            <a:off x="7909560" y="3246120"/>
            <a:ext cx="502920" cy="502920"/>
          </a:xfrm>
          <a:prstGeom prst="ellipse">
            <a:avLst/>
          </a:prstGeom>
          <a:solidFill>
            <a:srgbClr val="23282D"/>
          </a:solidFill>
          <a:ln/>
        </p:spPr>
      </p:sp>
      <p:pic>
        <p:nvPicPr>
          <p:cNvPr id="28" name="Image 6" descr="/home/claude/smartgrid_ppt/icons/barchart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5348" y="3381908"/>
            <a:ext cx="231343" cy="231343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8549640" y="326440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8161020" y="3749040"/>
            <a:ext cx="0" cy="320040"/>
          </a:xfrm>
          <a:prstGeom prst="line">
            <a:avLst/>
          </a:prstGeom>
          <a:noFill/>
          <a:ln w="25400">
            <a:solidFill>
              <a:srgbClr val="D9DEDF"/>
            </a:solidFill>
            <a:prstDash val="dash"/>
          </a:ln>
        </p:spPr>
      </p:sp>
      <p:sp>
        <p:nvSpPr>
          <p:cNvPr id="31" name="Shape 22"/>
          <p:cNvSpPr/>
          <p:nvPr/>
        </p:nvSpPr>
        <p:spPr>
          <a:xfrm>
            <a:off x="7909560" y="4069080"/>
            <a:ext cx="502920" cy="502920"/>
          </a:xfrm>
          <a:prstGeom prst="ellipse">
            <a:avLst/>
          </a:prstGeom>
          <a:solidFill>
            <a:srgbClr val="23282D"/>
          </a:solidFill>
          <a:ln/>
        </p:spPr>
      </p:sp>
      <p:pic>
        <p:nvPicPr>
          <p:cNvPr id="32" name="Image 7" descr="/home/claude/smartgrid_ppt/icons/cpu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5348" y="4204868"/>
            <a:ext cx="231343" cy="231343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8549640" y="408736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8161020" y="4572000"/>
            <a:ext cx="0" cy="320040"/>
          </a:xfrm>
          <a:prstGeom prst="line">
            <a:avLst/>
          </a:prstGeom>
          <a:noFill/>
          <a:ln w="25400">
            <a:solidFill>
              <a:srgbClr val="D9DEDF"/>
            </a:solidFill>
            <a:prstDash val="dash"/>
          </a:ln>
        </p:spPr>
      </p:sp>
      <p:sp>
        <p:nvSpPr>
          <p:cNvPr id="35" name="Shape 25"/>
          <p:cNvSpPr/>
          <p:nvPr/>
        </p:nvSpPr>
        <p:spPr>
          <a:xfrm>
            <a:off x="7909560" y="4892040"/>
            <a:ext cx="502920" cy="50292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6" name="Image 8" descr="/home/claude/smartgrid_ppt/icons/monitor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5348" y="5027828"/>
            <a:ext cx="231343" cy="231343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549640" y="491032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</a:t>
            </a:r>
            <a:endParaRPr lang="en-US" sz="1300" dirty="0"/>
          </a:p>
        </p:txBody>
      </p:sp>
      <p:sp>
        <p:nvSpPr>
          <p:cNvPr id="38" name="Text 2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GRID ELECTRICITY DEMAND FORECASTING</a:t>
            </a:r>
            <a:endParaRPr lang="en-US" sz="800" dirty="0"/>
          </a:p>
        </p:txBody>
      </p:sp>
      <p:sp>
        <p:nvSpPr>
          <p:cNvPr id="39" name="Text 2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B1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901952"/>
            <a:ext cx="91440" cy="91440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5564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demand is not constant — it shifts by the hour, day, and season.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91440" cy="91440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414016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demand swings create real challenges for power system planning.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18688"/>
            <a:ext cx="91440" cy="91440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072384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review of electricity data is largely retrospective and manual.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77056"/>
            <a:ext cx="91440" cy="91440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730752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approach can turn history into a usable forward-looking estimate.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675120" y="1828800"/>
            <a:ext cx="4937760" cy="3017520"/>
          </a:xfrm>
          <a:prstGeom prst="roundRect">
            <a:avLst>
              <a:gd name="adj" fmla="val 2424"/>
            </a:avLst>
          </a:prstGeom>
          <a:solidFill>
            <a:srgbClr val="23282D"/>
          </a:solidFill>
          <a:ln/>
        </p:spPr>
      </p:sp>
      <p:sp>
        <p:nvSpPr>
          <p:cNvPr id="15" name="Shape 13"/>
          <p:cNvSpPr/>
          <p:nvPr/>
        </p:nvSpPr>
        <p:spPr>
          <a:xfrm>
            <a:off x="6995160" y="2148840"/>
            <a:ext cx="548640" cy="54864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6" name="Image 0" descr="/home/claude/smartgrid_ppt/icons/help_grap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8779" y="2302459"/>
            <a:ext cx="241402" cy="24140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995160" y="2834640"/>
            <a:ext cx="4343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historical electricity data be used to understand demand patterns and forecast future electricity demand?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AEB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GRID ELECTRICITY DEMAND FORECASTING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EB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261518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194560"/>
            <a:ext cx="502920" cy="502920"/>
          </a:xfrm>
          <a:prstGeom prst="ellipse">
            <a:avLst/>
          </a:prstGeom>
          <a:solidFill>
            <a:srgbClr val="00A6A6"/>
          </a:solidFill>
          <a:ln/>
        </p:spPr>
      </p:sp>
      <p:pic>
        <p:nvPicPr>
          <p:cNvPr id="8" name="Image 0" descr="/home/claude/smartgrid_ppt/icons/barcha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028" y="2330348"/>
            <a:ext cx="231343" cy="23134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2880360"/>
            <a:ext cx="22128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historical electricity demand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28416" y="1965960"/>
            <a:ext cx="261518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57016" y="2194560"/>
            <a:ext cx="502920" cy="502920"/>
          </a:xfrm>
          <a:prstGeom prst="ellipse">
            <a:avLst/>
          </a:prstGeom>
          <a:solidFill>
            <a:srgbClr val="00A6A6"/>
          </a:solidFill>
          <a:ln/>
        </p:spPr>
      </p:sp>
      <p:pic>
        <p:nvPicPr>
          <p:cNvPr id="12" name="Image 1" descr="/home/claude/smartgrid_ppt/icons/c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2804" y="2330348"/>
            <a:ext cx="231343" cy="23134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9584" y="2880360"/>
            <a:ext cx="22128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daily, weekly &amp; seasonal patterns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108192" y="1965960"/>
            <a:ext cx="261518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36792" y="2194560"/>
            <a:ext cx="502920" cy="502920"/>
          </a:xfrm>
          <a:prstGeom prst="ellipse">
            <a:avLst/>
          </a:prstGeom>
          <a:solidFill>
            <a:srgbClr val="00A6A6"/>
          </a:solidFill>
          <a:ln/>
        </p:spPr>
      </p:sp>
      <p:pic>
        <p:nvPicPr>
          <p:cNvPr id="16" name="Image 2" descr="/home/claude/smartgrid_ppt/icons/su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580" y="2330348"/>
            <a:ext cx="231343" cy="23134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2880360"/>
            <a:ext cx="22128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renewable generation behavior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8887968" y="1965960"/>
            <a:ext cx="261518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116568" y="2194560"/>
            <a:ext cx="502920" cy="502920"/>
          </a:xfrm>
          <a:prstGeom prst="ellipse">
            <a:avLst/>
          </a:prstGeom>
          <a:solidFill>
            <a:srgbClr val="00A6A6"/>
          </a:solidFill>
          <a:ln/>
        </p:spPr>
      </p:sp>
      <p:pic>
        <p:nvPicPr>
          <p:cNvPr id="20" name="Image 3" descr="/home/claude/smartgrid_ppt/icons/filt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2356" y="2330348"/>
            <a:ext cx="231343" cy="23134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89136" y="2880360"/>
            <a:ext cx="22128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prepare the raw dataset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548640" y="4133088"/>
            <a:ext cx="261518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77240" y="4361688"/>
            <a:ext cx="502920" cy="50292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4" name="Image 4" descr="/home/claude/smartgrid_ppt/icons/activity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028" y="4497476"/>
            <a:ext cx="231343" cy="23134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49808" y="5047488"/>
            <a:ext cx="22128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exploratory data analysis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3328416" y="4133088"/>
            <a:ext cx="261518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3557016" y="4361688"/>
            <a:ext cx="502920" cy="50292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8" name="Image 5" descr="/home/claude/smartgrid_ppt/icons/settings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2804" y="4497476"/>
            <a:ext cx="231343" cy="231343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529584" y="5047488"/>
            <a:ext cx="22128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predictive model features</a:t>
            </a:r>
            <a:endParaRPr lang="en-US" sz="1250" dirty="0"/>
          </a:p>
        </p:txBody>
      </p:sp>
      <p:sp>
        <p:nvSpPr>
          <p:cNvPr id="30" name="Shape 22"/>
          <p:cNvSpPr/>
          <p:nvPr/>
        </p:nvSpPr>
        <p:spPr>
          <a:xfrm>
            <a:off x="6108192" y="4133088"/>
            <a:ext cx="261518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6336792" y="4361688"/>
            <a:ext cx="502920" cy="50292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2" name="Image 6" descr="/home/claude/smartgrid_ppt/icons/cpu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2580" y="4497476"/>
            <a:ext cx="231343" cy="231343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309360" y="5047488"/>
            <a:ext cx="22128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demand forecasting model</a:t>
            </a:r>
            <a:endParaRPr lang="en-US" sz="1250" dirty="0"/>
          </a:p>
        </p:txBody>
      </p:sp>
      <p:sp>
        <p:nvSpPr>
          <p:cNvPr id="34" name="Shape 25"/>
          <p:cNvSpPr/>
          <p:nvPr/>
        </p:nvSpPr>
        <p:spPr>
          <a:xfrm>
            <a:off x="8887968" y="4133088"/>
            <a:ext cx="261518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35" name="Shape 26"/>
          <p:cNvSpPr/>
          <p:nvPr/>
        </p:nvSpPr>
        <p:spPr>
          <a:xfrm>
            <a:off x="9116568" y="4361688"/>
            <a:ext cx="502920" cy="50292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6" name="Image 7" descr="/home/claude/smartgrid_ppt/icons/monitor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52356" y="4497476"/>
            <a:ext cx="231343" cy="231343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9089136" y="5047488"/>
            <a:ext cx="22128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an interactive Power BI dashboard</a:t>
            </a:r>
            <a:endParaRPr lang="en-US" sz="1250" dirty="0"/>
          </a:p>
        </p:txBody>
      </p:sp>
      <p:sp>
        <p:nvSpPr>
          <p:cNvPr id="38" name="Text 2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GRID ELECTRICITY DEMAND FORECASTING</a:t>
            </a:r>
            <a:endParaRPr lang="en-US" sz="800" dirty="0"/>
          </a:p>
        </p:txBody>
      </p:sp>
      <p:sp>
        <p:nvSpPr>
          <p:cNvPr id="39" name="Text 2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Electricity Demand Analysis?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084832"/>
            <a:ext cx="548640" cy="548640"/>
          </a:xfrm>
          <a:prstGeom prst="ellipse">
            <a:avLst/>
          </a:prstGeom>
          <a:solidFill>
            <a:srgbClr val="00A6A6"/>
          </a:solidFill>
          <a:ln/>
        </p:spPr>
      </p:sp>
      <p:pic>
        <p:nvPicPr>
          <p:cNvPr id="8" name="Image 0" descr="/home/claude/smartgrid_ppt/icons/setting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139" y="2238451"/>
            <a:ext cx="241402" cy="2414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82880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generation planning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51960" y="182880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34840" y="2084832"/>
            <a:ext cx="548640" cy="548640"/>
          </a:xfrm>
          <a:prstGeom prst="ellipse">
            <a:avLst/>
          </a:prstGeom>
          <a:solidFill>
            <a:srgbClr val="00A6A6"/>
          </a:solidFill>
          <a:ln/>
        </p:spPr>
      </p:sp>
      <p:pic>
        <p:nvPicPr>
          <p:cNvPr id="12" name="Image 1" descr="/home/claude/smartgrid_ppt/icons/shiel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8459" y="2238451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20640" y="182880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stability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955280" y="182880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38160" y="2084832"/>
            <a:ext cx="548640" cy="548640"/>
          </a:xfrm>
          <a:prstGeom prst="ellipse">
            <a:avLst/>
          </a:prstGeom>
          <a:solidFill>
            <a:srgbClr val="00A6A6"/>
          </a:solidFill>
          <a:ln/>
        </p:spPr>
      </p:sp>
      <p:pic>
        <p:nvPicPr>
          <p:cNvPr id="16" name="Image 2" descr="/home/claude/smartgrid_ppt/icons/trendu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1779" y="2238451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23960" y="182880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Peak-demand management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306324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1520" y="3319272"/>
            <a:ext cx="548640" cy="548640"/>
          </a:xfrm>
          <a:prstGeom prst="ellipse">
            <a:avLst/>
          </a:prstGeom>
          <a:solidFill>
            <a:srgbClr val="00A6A6"/>
          </a:solidFill>
          <a:ln/>
        </p:spPr>
      </p:sp>
      <p:pic>
        <p:nvPicPr>
          <p:cNvPr id="20" name="Image 3" descr="/home/claude/smartgrid_ppt/icons/lay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139" y="3472891"/>
            <a:ext cx="241402" cy="24140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306324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resource allocation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4251960" y="306324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434840" y="3319272"/>
            <a:ext cx="548640" cy="548640"/>
          </a:xfrm>
          <a:prstGeom prst="ellipse">
            <a:avLst/>
          </a:prstGeom>
          <a:solidFill>
            <a:srgbClr val="00A6A6"/>
          </a:solidFill>
          <a:ln/>
        </p:spPr>
      </p:sp>
      <p:pic>
        <p:nvPicPr>
          <p:cNvPr id="24" name="Image 4" descr="/home/claude/smartgrid_ppt/icons/su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8459" y="3472891"/>
            <a:ext cx="241402" cy="24140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120640" y="306324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integration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7955280" y="306324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138160" y="3319272"/>
            <a:ext cx="548640" cy="548640"/>
          </a:xfrm>
          <a:prstGeom prst="ellipse">
            <a:avLst/>
          </a:prstGeom>
          <a:solidFill>
            <a:srgbClr val="00A6A6"/>
          </a:solidFill>
          <a:ln/>
        </p:spPr>
      </p:sp>
      <p:pic>
        <p:nvPicPr>
          <p:cNvPr id="28" name="Image 5" descr="/home/claude/smartgrid_ppt/icons/cpu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1779" y="3472891"/>
            <a:ext cx="241402" cy="24140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823960" y="306324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</a:t>
            </a:r>
            <a:endParaRPr lang="en-US" sz="1300" dirty="0"/>
          </a:p>
        </p:txBody>
      </p:sp>
      <p:sp>
        <p:nvSpPr>
          <p:cNvPr id="30" name="Shape 22"/>
          <p:cNvSpPr/>
          <p:nvPr/>
        </p:nvSpPr>
        <p:spPr>
          <a:xfrm>
            <a:off x="548640" y="4434840"/>
            <a:ext cx="11091672" cy="1508760"/>
          </a:xfrm>
          <a:prstGeom prst="roundRect">
            <a:avLst>
              <a:gd name="adj" fmla="val 4848"/>
            </a:avLst>
          </a:prstGeom>
          <a:solidFill>
            <a:srgbClr val="23282D"/>
          </a:solidFill>
          <a:ln/>
        </p:spPr>
      </p:sp>
      <p:sp>
        <p:nvSpPr>
          <p:cNvPr id="31" name="Shape 23"/>
          <p:cNvSpPr/>
          <p:nvPr/>
        </p:nvSpPr>
        <p:spPr>
          <a:xfrm>
            <a:off x="868680" y="4727448"/>
            <a:ext cx="502920" cy="502920"/>
          </a:xfrm>
          <a:prstGeom prst="ellipse">
            <a:avLst/>
          </a:prstGeom>
          <a:solidFill>
            <a:srgbClr val="00A6A6"/>
          </a:solidFill>
          <a:ln/>
        </p:spPr>
      </p:sp>
      <p:pic>
        <p:nvPicPr>
          <p:cNvPr id="32" name="Image 6" descr="/home/claude/smartgrid_ppt/icons/barchart_grap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4468" y="4863236"/>
            <a:ext cx="231343" cy="231343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411480" y="53492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Analysis</a:t>
            </a:r>
            <a:endParaRPr lang="en-US" sz="1150" dirty="0"/>
          </a:p>
        </p:txBody>
      </p:sp>
      <p:sp>
        <p:nvSpPr>
          <p:cNvPr id="34" name="Text 25"/>
          <p:cNvSpPr/>
          <p:nvPr/>
        </p:nvSpPr>
        <p:spPr>
          <a:xfrm>
            <a:off x="1417320" y="4690872"/>
            <a:ext cx="405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5" name="Shape 26"/>
          <p:cNvSpPr/>
          <p:nvPr/>
        </p:nvSpPr>
        <p:spPr>
          <a:xfrm>
            <a:off x="3788664" y="4727448"/>
            <a:ext cx="502920" cy="502920"/>
          </a:xfrm>
          <a:prstGeom prst="ellipse">
            <a:avLst/>
          </a:prstGeom>
          <a:solidFill>
            <a:srgbClr val="00A6A6"/>
          </a:solidFill>
          <a:ln/>
        </p:spPr>
      </p:sp>
      <p:pic>
        <p:nvPicPr>
          <p:cNvPr id="36" name="Image 7" descr="/home/claude/smartgrid_ppt/icons/cpu_grap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4452" y="4863236"/>
            <a:ext cx="231343" cy="231343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3331464" y="53492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150" dirty="0"/>
          </a:p>
        </p:txBody>
      </p:sp>
      <p:sp>
        <p:nvSpPr>
          <p:cNvPr id="38" name="Text 28"/>
          <p:cNvSpPr/>
          <p:nvPr/>
        </p:nvSpPr>
        <p:spPr>
          <a:xfrm>
            <a:off x="4337304" y="4690872"/>
            <a:ext cx="405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9" name="Shape 29"/>
          <p:cNvSpPr/>
          <p:nvPr/>
        </p:nvSpPr>
        <p:spPr>
          <a:xfrm>
            <a:off x="6708648" y="4727448"/>
            <a:ext cx="502920" cy="502920"/>
          </a:xfrm>
          <a:prstGeom prst="ellipse">
            <a:avLst/>
          </a:prstGeom>
          <a:solidFill>
            <a:srgbClr val="00A6A6"/>
          </a:solidFill>
          <a:ln/>
        </p:spPr>
      </p:sp>
      <p:pic>
        <p:nvPicPr>
          <p:cNvPr id="40" name="Image 8" descr="/home/claude/smartgrid_ppt/icons/clipboard_grap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44436" y="4863236"/>
            <a:ext cx="231343" cy="231343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6251448" y="53492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150" dirty="0"/>
          </a:p>
        </p:txBody>
      </p:sp>
      <p:sp>
        <p:nvSpPr>
          <p:cNvPr id="42" name="Text 31"/>
          <p:cNvSpPr/>
          <p:nvPr/>
        </p:nvSpPr>
        <p:spPr>
          <a:xfrm>
            <a:off x="7257288" y="4690872"/>
            <a:ext cx="405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3" name="Shape 32"/>
          <p:cNvSpPr/>
          <p:nvPr/>
        </p:nvSpPr>
        <p:spPr>
          <a:xfrm>
            <a:off x="9628632" y="4727448"/>
            <a:ext cx="502920" cy="50292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44" name="Image 9" descr="/home/claude/smartgrid_ppt/icons/grid_grap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64420" y="4863236"/>
            <a:ext cx="231343" cy="231343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9171432" y="53492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Management</a:t>
            </a:r>
            <a:endParaRPr lang="en-US" sz="1150" dirty="0"/>
          </a:p>
        </p:txBody>
      </p:sp>
      <p:sp>
        <p:nvSpPr>
          <p:cNvPr id="46" name="Text 3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GRID ELECTRICITY DEMAND FORECASTING</a:t>
            </a:r>
            <a:endParaRPr lang="en-US" sz="800" dirty="0"/>
          </a:p>
        </p:txBody>
      </p:sp>
      <p:sp>
        <p:nvSpPr>
          <p:cNvPr id="47" name="Text 3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615184" cy="1051560"/>
          </a:xfrm>
          <a:prstGeom prst="roundRect">
            <a:avLst>
              <a:gd name="adj" fmla="val 6957"/>
            </a:avLst>
          </a:prstGeom>
          <a:solidFill>
            <a:srgbClr val="23282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20240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86,976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2450592"/>
            <a:ext cx="2340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Half-hourly records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28416" y="1828800"/>
            <a:ext cx="2615184" cy="1051560"/>
          </a:xfrm>
          <a:prstGeom prst="roundRect">
            <a:avLst>
              <a:gd name="adj" fmla="val 6957"/>
            </a:avLst>
          </a:prstGeom>
          <a:solidFill>
            <a:srgbClr val="23282D"/>
          </a:solidFill>
          <a:ln/>
        </p:spPr>
      </p:sp>
      <p:sp>
        <p:nvSpPr>
          <p:cNvPr id="10" name="Text 8"/>
          <p:cNvSpPr/>
          <p:nvPr/>
        </p:nvSpPr>
        <p:spPr>
          <a:xfrm>
            <a:off x="3465576" y="1920240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2021–2025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65576" y="2450592"/>
            <a:ext cx="2340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span (England &amp; Wales)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08192" y="1828800"/>
            <a:ext cx="2615184" cy="1051560"/>
          </a:xfrm>
          <a:prstGeom prst="roundRect">
            <a:avLst>
              <a:gd name="adj" fmla="val 6957"/>
            </a:avLst>
          </a:prstGeom>
          <a:solidFill>
            <a:srgbClr val="23282D"/>
          </a:solidFill>
          <a:ln/>
        </p:spPr>
      </p:sp>
      <p:sp>
        <p:nvSpPr>
          <p:cNvPr id="13" name="Text 11"/>
          <p:cNvSpPr/>
          <p:nvPr/>
        </p:nvSpPr>
        <p:spPr>
          <a:xfrm>
            <a:off x="6245352" y="1920240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45352" y="2450592"/>
            <a:ext cx="2340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frequency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887968" y="1828800"/>
            <a:ext cx="2615184" cy="1051560"/>
          </a:xfrm>
          <a:prstGeom prst="roundRect">
            <a:avLst>
              <a:gd name="adj" fmla="val 6957"/>
            </a:avLst>
          </a:prstGeom>
          <a:solidFill>
            <a:srgbClr val="23282D"/>
          </a:solidFill>
          <a:ln/>
        </p:spPr>
      </p:sp>
      <p:sp>
        <p:nvSpPr>
          <p:cNvPr id="16" name="Text 14"/>
          <p:cNvSpPr/>
          <p:nvPr/>
        </p:nvSpPr>
        <p:spPr>
          <a:xfrm>
            <a:off x="9025128" y="1920240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025128" y="2450592"/>
            <a:ext cx="2340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source columns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648456"/>
            <a:ext cx="73152" cy="73152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3520440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Demand, National &amp; Transmission Demand (target domain)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105656"/>
            <a:ext cx="73152" cy="73152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3977640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Generation &amp; Capacity, Solar Generation &amp; Capacity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562856"/>
            <a:ext cx="73152" cy="73152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" y="4434840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fields — Year, Month, Day, Day of Week, Hour, Quarter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020056"/>
            <a:ext cx="73152" cy="73152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4892040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lag features — previous 30 min, 1 hr, 24 hr, 7 days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54406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Electricity Demand (MW)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720840" y="3200400"/>
            <a:ext cx="493776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903720" y="3337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RECORDS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3703320"/>
          <a:ext cx="4572000" cy="13716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</a:tblGrid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D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2021-01-15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25,826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2021-01-15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26,297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2021-01-15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26,133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" name="Text 28"/>
          <p:cNvSpPr/>
          <p:nvPr/>
        </p:nvSpPr>
        <p:spPr>
          <a:xfrm>
            <a:off x="6903720" y="52578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in MW. Solar/Wind shown as generation output.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GRID ELECTRICITY DEMAND FORECASTING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635252" cy="3017520"/>
          </a:xfrm>
          <a:prstGeom prst="roundRect">
            <a:avLst>
              <a:gd name="adj" fmla="val 44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1946" y="2240280"/>
            <a:ext cx="548640" cy="548640"/>
          </a:xfrm>
          <a:prstGeom prst="ellipse">
            <a:avLst/>
          </a:prstGeom>
          <a:solidFill>
            <a:srgbClr val="00A6A6"/>
          </a:solidFill>
          <a:ln/>
        </p:spPr>
      </p:sp>
      <p:pic>
        <p:nvPicPr>
          <p:cNvPr id="8" name="Image 0" descr="/home/claude/smartgrid_ppt/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5565" y="2393899"/>
            <a:ext cx="241402" cy="2414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971800"/>
            <a:ext cx="14523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3566160"/>
            <a:ext cx="14523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86,976 rows, 27 columns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165604" y="324612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2439924" y="1965960"/>
            <a:ext cx="1635252" cy="3017520"/>
          </a:xfrm>
          <a:prstGeom prst="roundRect">
            <a:avLst>
              <a:gd name="adj" fmla="val 44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983230" y="2240280"/>
            <a:ext cx="548640" cy="548640"/>
          </a:xfrm>
          <a:prstGeom prst="ellipse">
            <a:avLst/>
          </a:prstGeom>
          <a:solidFill>
            <a:srgbClr val="00A6A6"/>
          </a:solidFill>
          <a:ln/>
        </p:spPr>
      </p:sp>
      <p:pic>
        <p:nvPicPr>
          <p:cNvPr id="14" name="Image 1" descr="/home/claude/smartgrid_ppt/icons/filt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849" y="2393899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31364" y="2971800"/>
            <a:ext cx="14523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531364" y="3566160"/>
            <a:ext cx="14523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&amp; duplicates checked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056888" y="324612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4331208" y="1965960"/>
            <a:ext cx="1635252" cy="3017520"/>
          </a:xfrm>
          <a:prstGeom prst="roundRect">
            <a:avLst>
              <a:gd name="adj" fmla="val 44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874514" y="2240280"/>
            <a:ext cx="548640" cy="548640"/>
          </a:xfrm>
          <a:prstGeom prst="ellipse">
            <a:avLst/>
          </a:prstGeom>
          <a:solidFill>
            <a:srgbClr val="00A6A6"/>
          </a:solidFill>
          <a:ln/>
        </p:spPr>
      </p:sp>
      <p:pic>
        <p:nvPicPr>
          <p:cNvPr id="20" name="Image 2" descr="/home/claude/smartgrid_ppt/icons/clo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8133" y="2393899"/>
            <a:ext cx="241402" cy="24140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422648" y="2971800"/>
            <a:ext cx="14523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 Build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422648" y="3566160"/>
            <a:ext cx="14523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+ Period → timestamp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5948172" y="324612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4" name="Shape 19"/>
          <p:cNvSpPr/>
          <p:nvPr/>
        </p:nvSpPr>
        <p:spPr>
          <a:xfrm>
            <a:off x="6222492" y="1965960"/>
            <a:ext cx="1635252" cy="3017520"/>
          </a:xfrm>
          <a:prstGeom prst="roundRect">
            <a:avLst>
              <a:gd name="adj" fmla="val 44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765798" y="2240280"/>
            <a:ext cx="548640" cy="548640"/>
          </a:xfrm>
          <a:prstGeom prst="ellipse">
            <a:avLst/>
          </a:prstGeom>
          <a:solidFill>
            <a:srgbClr val="00A6A6"/>
          </a:solidFill>
          <a:ln/>
        </p:spPr>
      </p:sp>
      <p:pic>
        <p:nvPicPr>
          <p:cNvPr id="26" name="Image 3" descr="/home/claude/smartgrid_ppt/icons/lay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9417" y="2393899"/>
            <a:ext cx="241402" cy="24140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313932" y="2971800"/>
            <a:ext cx="14523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Reduction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6313932" y="3566160"/>
            <a:ext cx="14523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non-predictive interconnector flows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7839456" y="324612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0" name="Shape 24"/>
          <p:cNvSpPr/>
          <p:nvPr/>
        </p:nvSpPr>
        <p:spPr>
          <a:xfrm>
            <a:off x="8113776" y="1965960"/>
            <a:ext cx="1635252" cy="3017520"/>
          </a:xfrm>
          <a:prstGeom prst="roundRect">
            <a:avLst>
              <a:gd name="adj" fmla="val 44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8657082" y="2240280"/>
            <a:ext cx="548640" cy="548640"/>
          </a:xfrm>
          <a:prstGeom prst="ellipse">
            <a:avLst/>
          </a:prstGeom>
          <a:solidFill>
            <a:srgbClr val="00A6A6"/>
          </a:solidFill>
          <a:ln/>
        </p:spPr>
      </p:sp>
      <p:pic>
        <p:nvPicPr>
          <p:cNvPr id="32" name="Image 4" descr="/home/claude/smartgrid_ppt/icons/setting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0701" y="2393899"/>
            <a:ext cx="241402" cy="24140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8205216" y="2971800"/>
            <a:ext cx="14523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8205216" y="3566160"/>
            <a:ext cx="14523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Cyclical encoding + lag features</a:t>
            </a:r>
            <a:endParaRPr lang="en-US" sz="950" dirty="0"/>
          </a:p>
        </p:txBody>
      </p:sp>
      <p:sp>
        <p:nvSpPr>
          <p:cNvPr id="35" name="Text 28"/>
          <p:cNvSpPr/>
          <p:nvPr/>
        </p:nvSpPr>
        <p:spPr>
          <a:xfrm>
            <a:off x="9730740" y="324612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6" name="Shape 29"/>
          <p:cNvSpPr/>
          <p:nvPr/>
        </p:nvSpPr>
        <p:spPr>
          <a:xfrm>
            <a:off x="10005060" y="1965960"/>
            <a:ext cx="1635252" cy="3017520"/>
          </a:xfrm>
          <a:prstGeom prst="roundRect">
            <a:avLst>
              <a:gd name="adj" fmla="val 4473"/>
            </a:avLst>
          </a:prstGeom>
          <a:solidFill>
            <a:srgbClr val="23282D"/>
          </a:solidFill>
          <a:ln/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10548366" y="2240280"/>
            <a:ext cx="548640" cy="54864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8" name="Image 5" descr="/home/claude/smartgrid_ppt/icons/che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01985" y="2393899"/>
            <a:ext cx="241402" cy="24140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10096500" y="2971800"/>
            <a:ext cx="14523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ML-Ready Dataset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10096500" y="3566160"/>
            <a:ext cx="14523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B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86,976 rows, 13 model features</a:t>
            </a:r>
            <a:endParaRPr lang="en-US" sz="950" dirty="0"/>
          </a:p>
        </p:txBody>
      </p:sp>
      <p:sp>
        <p:nvSpPr>
          <p:cNvPr id="41" name="Text 33"/>
          <p:cNvSpPr/>
          <p:nvPr/>
        </p:nvSpPr>
        <p:spPr>
          <a:xfrm>
            <a:off x="548640" y="525780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time-series features engineered: Hour, Month &amp; Day-of-Week cyclical (sin/cos) encoding, plus demand lag features at 30 min, 1 hr, 24 hr and 7 days.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GRID ELECTRICITY DEMAND FORECASTING</a:t>
            </a:r>
            <a:endParaRPr lang="en-US" sz="800" dirty="0"/>
          </a:p>
        </p:txBody>
      </p:sp>
      <p:sp>
        <p:nvSpPr>
          <p:cNvPr id="43" name="Text 3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pic>
        <p:nvPicPr>
          <p:cNvPr id="7" name="Image 0" descr="/home/claude/smartgrid_ppt/charts/daily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74520"/>
            <a:ext cx="5221224" cy="1371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273552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average demand shows a stable multi-year pattern with a mild long-term dip and recovery.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99632" y="178308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pic>
        <p:nvPicPr>
          <p:cNvPr id="10" name="Image 1" descr="/home/claude/smartgrid_ppt/charts/hourly_patter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874520"/>
            <a:ext cx="5221224" cy="1371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36792" y="3273552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peaks around hour 18 (6 PM) and bottoms out overnight near hour 4.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48640" y="406908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pic>
        <p:nvPicPr>
          <p:cNvPr id="13" name="Image 2" descr="/home/claude/smartgrid_ppt/charts/monthly_seasonali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160520"/>
            <a:ext cx="5221224" cy="1371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5800" y="5559552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highest in winter months and lowest across the summer.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6199632" y="406908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pic>
        <p:nvPicPr>
          <p:cNvPr id="16" name="Image 3" descr="/home/claude/smartgrid_ppt/charts/weekday_weeke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4160520"/>
            <a:ext cx="5221224" cy="1371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36792" y="5559552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demand runs consistently above weekend demand.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GRID ELECTRICITY DEMAND FORECASTING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Demand Analysis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69494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pic>
        <p:nvPicPr>
          <p:cNvPr id="7" name="Image 0" descr="/home/claude/smartgrid_ppt/charts/hourly_patte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65960"/>
            <a:ext cx="6583680" cy="3246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525780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demand by hour of day — a clear morning ramp and an evening peak around 18:00.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680960" y="1783080"/>
            <a:ext cx="3931920" cy="621792"/>
          </a:xfrm>
          <a:prstGeom prst="roundRect">
            <a:avLst>
              <a:gd name="adj" fmla="val 11765"/>
            </a:avLst>
          </a:prstGeom>
          <a:solidFill>
            <a:srgbClr val="23282D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0" y="178308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Demand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601200" y="178308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bn kWh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680960" y="2514600"/>
            <a:ext cx="3931920" cy="621792"/>
          </a:xfrm>
          <a:prstGeom prst="roundRect">
            <a:avLst>
              <a:gd name="adj" fmla="val 11765"/>
            </a:avLst>
          </a:prstGeom>
          <a:solidFill>
            <a:srgbClr val="23282D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0" y="251460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Demand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9601200" y="251460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24.41K kWh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680960" y="3246120"/>
            <a:ext cx="3931920" cy="621792"/>
          </a:xfrm>
          <a:prstGeom prst="roundRect">
            <a:avLst>
              <a:gd name="adj" fmla="val 11765"/>
            </a:avLst>
          </a:prstGeom>
          <a:solidFill>
            <a:srgbClr val="23282D"/>
          </a:solidFill>
          <a:ln/>
        </p:spPr>
      </p:sp>
      <p:sp>
        <p:nvSpPr>
          <p:cNvPr id="16" name="Text 13"/>
          <p:cNvSpPr/>
          <p:nvPr/>
        </p:nvSpPr>
        <p:spPr>
          <a:xfrm>
            <a:off x="7863840" y="324612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Demand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9601200" y="324612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42K kWh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680960" y="3977640"/>
            <a:ext cx="3931920" cy="621792"/>
          </a:xfrm>
          <a:prstGeom prst="roundRect">
            <a:avLst>
              <a:gd name="adj" fmla="val 11765"/>
            </a:avLst>
          </a:prstGeom>
          <a:solidFill>
            <a:srgbClr val="23282D"/>
          </a:solidFill>
          <a:ln/>
        </p:spPr>
      </p:sp>
      <p:sp>
        <p:nvSpPr>
          <p:cNvPr id="19" name="Text 16"/>
          <p:cNvSpPr/>
          <p:nvPr/>
        </p:nvSpPr>
        <p:spPr>
          <a:xfrm>
            <a:off x="7863840" y="397764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Demand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9601200" y="397764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12K kWh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7680960" y="4709160"/>
            <a:ext cx="3931920" cy="621792"/>
          </a:xfrm>
          <a:prstGeom prst="roundRect">
            <a:avLst>
              <a:gd name="adj" fmla="val 11765"/>
            </a:avLst>
          </a:prstGeom>
          <a:solidFill>
            <a:srgbClr val="23282D"/>
          </a:solidFill>
          <a:ln/>
        </p:spPr>
      </p:sp>
      <p:sp>
        <p:nvSpPr>
          <p:cNvPr id="22" name="Text 19"/>
          <p:cNvSpPr/>
          <p:nvPr/>
        </p:nvSpPr>
        <p:spPr>
          <a:xfrm>
            <a:off x="7863840" y="470916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9601200" y="470916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18:00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7680960" y="5440680"/>
            <a:ext cx="3931920" cy="621792"/>
          </a:xfrm>
          <a:prstGeom prst="roundRect">
            <a:avLst>
              <a:gd name="adj" fmla="val 11765"/>
            </a:avLst>
          </a:prstGeom>
          <a:solidFill>
            <a:srgbClr val="23282D"/>
          </a:solidFill>
          <a:ln/>
        </p:spPr>
      </p:sp>
      <p:sp>
        <p:nvSpPr>
          <p:cNvPr id="25" name="Text 22"/>
          <p:cNvSpPr/>
          <p:nvPr/>
        </p:nvSpPr>
        <p:spPr>
          <a:xfrm>
            <a:off x="7863840" y="544068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Day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9601200" y="544068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GRID ELECTRICITY DEMAND FORECASTING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Analysis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4CAF78"/>
          </a:solidFill>
          <a:ln/>
        </p:spPr>
      </p:sp>
      <p:pic>
        <p:nvPicPr>
          <p:cNvPr id="7" name="Image 0" descr="/home/claude/smartgrid_ppt/icons/su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428" y="2010308"/>
            <a:ext cx="231343" cy="2313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828800"/>
            <a:ext cx="5852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generation shows a strong midday peak, tracking daylight hours across the year.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788920"/>
            <a:ext cx="502920" cy="502920"/>
          </a:xfrm>
          <a:prstGeom prst="ellipse">
            <a:avLst/>
          </a:prstGeom>
          <a:solidFill>
            <a:srgbClr val="4CAF78"/>
          </a:solidFill>
          <a:ln/>
        </p:spPr>
      </p:sp>
      <p:pic>
        <p:nvPicPr>
          <p:cNvPr id="10" name="Image 1" descr="/home/claude/smartgrid_ppt/icons/win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28" y="2924708"/>
            <a:ext cx="231343" cy="2313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743200"/>
            <a:ext cx="5852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generation and capacity are tracked alongside demand as supporting features.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rgbClr val="4CAF78"/>
          </a:solidFill>
          <a:ln/>
        </p:spPr>
      </p:sp>
      <p:pic>
        <p:nvPicPr>
          <p:cNvPr id="13" name="Image 2" descr="/home/claude/smartgrid_ppt/icons/trenddow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28" y="3839108"/>
            <a:ext cx="231343" cy="23134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657600"/>
            <a:ext cx="5852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output falls away well before the evening demand peak — a timing gap.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4709160"/>
            <a:ext cx="6537960" cy="1234440"/>
          </a:xfrm>
          <a:prstGeom prst="roundRect">
            <a:avLst>
              <a:gd name="adj" fmla="val 5926"/>
            </a:avLst>
          </a:prstGeom>
          <a:solidFill>
            <a:srgbClr val="23282D"/>
          </a:solidFill>
          <a:ln/>
        </p:spPr>
      </p:sp>
      <p:sp>
        <p:nvSpPr>
          <p:cNvPr id="16" name="Shape 11"/>
          <p:cNvSpPr/>
          <p:nvPr/>
        </p:nvSpPr>
        <p:spPr>
          <a:xfrm>
            <a:off x="777240" y="4956048"/>
            <a:ext cx="502920" cy="50292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7" name="Image 3" descr="/home/claude/smartgrid_ppt/icons/alert_grap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028" y="5091836"/>
            <a:ext cx="231343" cy="23134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4800600"/>
            <a:ext cx="5440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generation peaks around midday, creating a timing gap with the evening demand peak at 18:00 — a key insight for storage and dispatch planning.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7360920" y="1783080"/>
            <a:ext cx="4279392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7589520" y="1965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+ WIND vs DEMAND</a:t>
            </a:r>
            <a:endParaRPr lang="en-US" sz="1050" dirty="0"/>
          </a:p>
        </p:txBody>
      </p:sp>
      <p:pic>
        <p:nvPicPr>
          <p:cNvPr id="21" name="Image 4" descr="/home/claude/smartgrid_ppt/assets/dashboar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589520" y="2286000"/>
            <a:ext cx="3840480" cy="213055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589520" y="4526280"/>
            <a:ext cx="37947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generation stays a small fraction of total demand across the dataset, with solar's seasonal and daily cycle visible against the flatter demand line.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GRID ELECTRICITY DEMAND FORECASTING</a:t>
            </a:r>
            <a:endParaRPr lang="en-US" sz="800" dirty="0"/>
          </a:p>
        </p:txBody>
      </p:sp>
      <p:sp>
        <p:nvSpPr>
          <p:cNvPr id="24" name="Text 1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B1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/ Demand Forecasting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202436" y="1783080"/>
            <a:ext cx="502920" cy="502920"/>
          </a:xfrm>
          <a:prstGeom prst="ellipse">
            <a:avLst/>
          </a:prstGeom>
          <a:solidFill>
            <a:srgbClr val="00A6A6"/>
          </a:solidFill>
          <a:ln/>
        </p:spPr>
      </p:sp>
      <p:pic>
        <p:nvPicPr>
          <p:cNvPr id="7" name="Image 0" descr="/home/claude/smartgrid_ppt/icons/database_grap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8224" y="1918868"/>
            <a:ext cx="231343" cy="2313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37744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304288" y="1737360"/>
            <a:ext cx="18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058668" y="1783080"/>
            <a:ext cx="502920" cy="502920"/>
          </a:xfrm>
          <a:prstGeom prst="ellipse">
            <a:avLst/>
          </a:prstGeom>
          <a:solidFill>
            <a:srgbClr val="00A6A6"/>
          </a:solidFill>
          <a:ln/>
        </p:spPr>
      </p:sp>
      <p:pic>
        <p:nvPicPr>
          <p:cNvPr id="11" name="Image 1" descr="/home/claude/smartgrid_ppt/icons/settings_grap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456" y="1918868"/>
            <a:ext cx="231343" cy="231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359152" y="237744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160520" y="1737360"/>
            <a:ext cx="18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914900" y="1783080"/>
            <a:ext cx="502920" cy="502920"/>
          </a:xfrm>
          <a:prstGeom prst="ellipse">
            <a:avLst/>
          </a:prstGeom>
          <a:solidFill>
            <a:srgbClr val="00A6A6"/>
          </a:solidFill>
          <a:ln/>
        </p:spPr>
      </p:sp>
      <p:pic>
        <p:nvPicPr>
          <p:cNvPr id="15" name="Image 2" descr="/home/claude/smartgrid_ppt/icons/layers_grap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0688" y="1918868"/>
            <a:ext cx="231343" cy="23134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215384" y="237744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6016752" y="1737360"/>
            <a:ext cx="18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771132" y="1783080"/>
            <a:ext cx="502920" cy="502920"/>
          </a:xfrm>
          <a:prstGeom prst="ellipse">
            <a:avLst/>
          </a:prstGeom>
          <a:solidFill>
            <a:srgbClr val="00A6A6"/>
          </a:solidFill>
          <a:ln/>
        </p:spPr>
      </p:sp>
      <p:pic>
        <p:nvPicPr>
          <p:cNvPr id="19" name="Image 3" descr="/home/claude/smartgrid_ppt/icons/cpu_grap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6920" y="1918868"/>
            <a:ext cx="231343" cy="23134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071616" y="237744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7872984" y="1737360"/>
            <a:ext cx="18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8627364" y="1783080"/>
            <a:ext cx="502920" cy="502920"/>
          </a:xfrm>
          <a:prstGeom prst="ellipse">
            <a:avLst/>
          </a:prstGeom>
          <a:solidFill>
            <a:srgbClr val="00A6A6"/>
          </a:solidFill>
          <a:ln/>
        </p:spPr>
      </p:sp>
      <p:pic>
        <p:nvPicPr>
          <p:cNvPr id="23" name="Image 4" descr="/home/claude/smartgrid_ppt/icons/activity_grap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152" y="1918868"/>
            <a:ext cx="231343" cy="23134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27848" y="237744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950" dirty="0"/>
          </a:p>
        </p:txBody>
      </p:sp>
      <p:sp>
        <p:nvSpPr>
          <p:cNvPr id="25" name="Text 18"/>
          <p:cNvSpPr/>
          <p:nvPr/>
        </p:nvSpPr>
        <p:spPr>
          <a:xfrm>
            <a:off x="9729216" y="1737360"/>
            <a:ext cx="18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10483596" y="1783080"/>
            <a:ext cx="502920" cy="50292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7" name="Image 5" descr="/home/claude/smartgrid_ppt/icons/trendup_grap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9384" y="1918868"/>
            <a:ext cx="231343" cy="231343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784080" y="237744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548640" y="3246120"/>
            <a:ext cx="5394960" cy="2834640"/>
          </a:xfrm>
          <a:prstGeom prst="roundRect">
            <a:avLst>
              <a:gd name="adj" fmla="val 2581"/>
            </a:avLst>
          </a:prstGeom>
          <a:solidFill>
            <a:srgbClr val="23282D"/>
          </a:solidFill>
          <a:ln/>
        </p:spPr>
      </p:sp>
      <p:sp>
        <p:nvSpPr>
          <p:cNvPr id="30" name="Text 22"/>
          <p:cNvSpPr/>
          <p:nvPr/>
        </p:nvSpPr>
        <p:spPr>
          <a:xfrm>
            <a:off x="777240" y="3429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&amp; FEATURES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777240" y="3794760"/>
            <a:ext cx="49377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Demand (MW)
</a:t>
            </a:r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inputs:  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cyclical time features (hour, month, day-of-week), calendar flags, wind/solar capacity, and demand lags (24 hr, 7 day)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6245352" y="3246120"/>
            <a:ext cx="5394960" cy="2834640"/>
          </a:xfrm>
          <a:prstGeom prst="roundRect">
            <a:avLst>
              <a:gd name="adj" fmla="val 2581"/>
            </a:avLst>
          </a:prstGeom>
          <a:solidFill>
            <a:srgbClr val="23282D"/>
          </a:solidFill>
          <a:ln/>
        </p:spPr>
      </p:sp>
      <p:sp>
        <p:nvSpPr>
          <p:cNvPr id="33" name="Text 25"/>
          <p:cNvSpPr/>
          <p:nvPr/>
        </p:nvSpPr>
        <p:spPr>
          <a:xfrm>
            <a:off x="6473952" y="3429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6473952" y="3794760"/>
            <a:ext cx="49377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learns relationships between historical demand-related features and actual demand, then uses those learned patterns to estimate demand for unseen future periods.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used: Random Forest Regressor (300 trees, max depth 14), selected after comparing three algorithms.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AEB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GRID ELECTRICITY DEMAND FORECASTING</a:t>
            </a:r>
            <a:endParaRPr lang="en-US" sz="800" dirty="0"/>
          </a:p>
        </p:txBody>
      </p:sp>
      <p:sp>
        <p:nvSpPr>
          <p:cNvPr id="36" name="Text 2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EB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&amp; Evaluation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31343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901952"/>
            <a:ext cx="1984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3232" y="2286000"/>
            <a:ext cx="19842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prediction error, in MW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71800" y="1783080"/>
            <a:ext cx="231343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36392" y="1901952"/>
            <a:ext cx="1984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136392" y="2286000"/>
            <a:ext cx="19842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larger errors more heavily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394960" y="1783080"/>
            <a:ext cx="231343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559552" y="1901952"/>
            <a:ext cx="1984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59552" y="2286000"/>
            <a:ext cx="19842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error as % of actual demand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3063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— TEST SET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83280"/>
          <a:ext cx="7050024" cy="1463040"/>
        </p:xfrm>
        <a:graphic>
          <a:graphicData uri="http://schemas.openxmlformats.org/drawingml/2006/table">
            <a:tbl>
              <a:tblPr/>
              <a:tblGrid>
                <a:gridCol w="2743200"/>
                <a:gridCol w="1435608"/>
                <a:gridCol w="1435608"/>
                <a:gridCol w="1435608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(MW)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(MW)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A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 (selected)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A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1,334.7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A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1,817.0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A6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1,353.4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1,763.8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1,564.0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2,153.0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548640" y="5029200"/>
            <a:ext cx="70500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gave the lowest MAPE and highest accuracy across the three models tested, and was selected as the final model.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818120" y="1783080"/>
            <a:ext cx="3822192" cy="4617720"/>
          </a:xfrm>
          <a:prstGeom prst="roundRect">
            <a:avLst>
              <a:gd name="adj" fmla="val 19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001000" y="1920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PREDICTED DEMAND</a:t>
            </a:r>
            <a:endParaRPr lang="en-US" sz="1000" dirty="0"/>
          </a:p>
        </p:txBody>
      </p:sp>
      <p:pic>
        <p:nvPicPr>
          <p:cNvPr id="20" name="Image 0" descr="/home/claude/smartgrid_ppt/charts/actual_vs_predic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240280"/>
            <a:ext cx="3547872" cy="138074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001000" y="37490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95.00%
</a:t>
            </a:r>
            <a:pPr algn="l" indent="0" marL="0">
              <a:buNone/>
            </a:pPr>
            <a:r>
              <a:rPr lang="en-US" sz="105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accuracy (1 − MAPE)</a:t>
            </a:r>
            <a:endParaRPr lang="en-US" sz="3000" dirty="0"/>
          </a:p>
        </p:txBody>
      </p:sp>
      <p:pic>
        <p:nvPicPr>
          <p:cNvPr id="22" name="Image 1" descr="/home/claude/smartgrid_ppt/charts/feature_import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4663440"/>
            <a:ext cx="3547872" cy="1600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GRID ELECTRICITY DEMAND FORECASTING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B1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8092440" cy="4114800"/>
          </a:xfrm>
          <a:prstGeom prst="roundRect">
            <a:avLst>
              <a:gd name="adj" fmla="val 667"/>
            </a:avLst>
          </a:prstGeom>
          <a:solidFill>
            <a:srgbClr val="23282D"/>
          </a:solidFill>
          <a:ln/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pic>
        <p:nvPicPr>
          <p:cNvPr id="7" name="Image 0" descr="/home/claude/smartgrid_ppt/asset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1915" y="1947672"/>
            <a:ext cx="6805890" cy="3785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035040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ENERGY ANALYTICS DASHBOARD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8915400" y="1920240"/>
            <a:ext cx="438912" cy="438912"/>
          </a:xfrm>
          <a:prstGeom prst="ellipse">
            <a:avLst/>
          </a:prstGeom>
          <a:solidFill>
            <a:srgbClr val="00A6A6"/>
          </a:solidFill>
          <a:ln/>
        </p:spPr>
      </p:sp>
      <p:pic>
        <p:nvPicPr>
          <p:cNvPr id="10" name="Image 1" descr="/home/claude/smartgrid_ppt/icons/monitor_grap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517" y="2034357"/>
            <a:ext cx="210678" cy="21067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464040" y="189280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demand monitoring &amp; KPI cards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915400" y="2633472"/>
            <a:ext cx="438912" cy="438912"/>
          </a:xfrm>
          <a:prstGeom prst="ellipse">
            <a:avLst/>
          </a:prstGeom>
          <a:solidFill>
            <a:srgbClr val="00A6A6"/>
          </a:solidFill>
          <a:ln/>
        </p:spPr>
      </p:sp>
      <p:pic>
        <p:nvPicPr>
          <p:cNvPr id="13" name="Image 2" descr="/home/claude/smartgrid_ppt/icons/clock_grap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517" y="2747589"/>
            <a:ext cx="210678" cy="21067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464040" y="26060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Hour-of-day and day-of-week demand breakdown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8915400" y="3346704"/>
            <a:ext cx="438912" cy="438912"/>
          </a:xfrm>
          <a:prstGeom prst="ellipse">
            <a:avLst/>
          </a:prstGeom>
          <a:solidFill>
            <a:srgbClr val="00A6A6"/>
          </a:solidFill>
          <a:ln/>
        </p:spPr>
      </p:sp>
      <p:pic>
        <p:nvPicPr>
          <p:cNvPr id="16" name="Image 3" descr="/home/claude/smartgrid_ppt/icons/sun_grap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9517" y="3460821"/>
            <a:ext cx="210678" cy="21067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464040" y="331927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generation vs demand comparison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8915400" y="4059936"/>
            <a:ext cx="438912" cy="438912"/>
          </a:xfrm>
          <a:prstGeom prst="ellipse">
            <a:avLst/>
          </a:prstGeom>
          <a:solidFill>
            <a:srgbClr val="00A6A6"/>
          </a:solidFill>
          <a:ln/>
        </p:spPr>
      </p:sp>
      <p:pic>
        <p:nvPicPr>
          <p:cNvPr id="19" name="Image 4" descr="/home/claude/smartgrid_ppt/icons/filter_grap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9517" y="4174053"/>
            <a:ext cx="210678" cy="21067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464040" y="4032504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month &amp; year filters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8915400" y="4773168"/>
            <a:ext cx="438912" cy="438912"/>
          </a:xfrm>
          <a:prstGeom prst="ellipse">
            <a:avLst/>
          </a:prstGeom>
          <a:solidFill>
            <a:srgbClr val="00A6A6"/>
          </a:solidFill>
          <a:ln/>
        </p:spPr>
      </p:sp>
      <p:pic>
        <p:nvPicPr>
          <p:cNvPr id="22" name="Image 5" descr="/home/claude/smartgrid_ppt/icons/trendup_grap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9517" y="4887285"/>
            <a:ext cx="210678" cy="21067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464040" y="4745736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demand trend view</a:t>
            </a:r>
            <a:endParaRPr lang="en-US" sz="1050" dirty="0"/>
          </a:p>
        </p:txBody>
      </p:sp>
      <p:sp>
        <p:nvSpPr>
          <p:cNvPr id="24" name="Text 1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AEB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GRID ELECTRICITY DEMAND FORECASTING</a:t>
            </a:r>
            <a:endParaRPr lang="en-US" sz="800" dirty="0"/>
          </a:p>
        </p:txBody>
      </p:sp>
      <p:sp>
        <p:nvSpPr>
          <p:cNvPr id="25" name="Text 1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EB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58444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984248"/>
            <a:ext cx="457200" cy="457200"/>
          </a:xfrm>
          <a:prstGeom prst="ellipse">
            <a:avLst/>
          </a:prstGeom>
          <a:solidFill>
            <a:srgbClr val="00A6A6"/>
          </a:solidFill>
          <a:ln/>
        </p:spPr>
      </p:sp>
      <p:pic>
        <p:nvPicPr>
          <p:cNvPr id="8" name="Image 0" descr="/home/claude/smartgrid_ppt/icons/c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03120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984248"/>
            <a:ext cx="2670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Peak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9808" y="2606040"/>
            <a:ext cx="318211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peaks around 18:00 (6 PM) on a typical day, then falls through the night to a low near 4 AM.</a:t>
            </a:r>
            <a:endParaRPr lang="en-US" sz="1030" dirty="0"/>
          </a:p>
        </p:txBody>
      </p:sp>
      <p:sp>
        <p:nvSpPr>
          <p:cNvPr id="11" name="Shape 8"/>
          <p:cNvSpPr/>
          <p:nvPr/>
        </p:nvSpPr>
        <p:spPr>
          <a:xfrm>
            <a:off x="4270248" y="1783080"/>
            <a:ext cx="358444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71416" y="1984248"/>
            <a:ext cx="457200" cy="457200"/>
          </a:xfrm>
          <a:prstGeom prst="ellipse">
            <a:avLst/>
          </a:prstGeom>
          <a:solidFill>
            <a:srgbClr val="00A6A6"/>
          </a:solidFill>
          <a:ln/>
        </p:spPr>
      </p:sp>
      <p:pic>
        <p:nvPicPr>
          <p:cNvPr id="13" name="Image 1" descr="/home/claude/smartgrid_ppt/icons/calenda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2103120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47488" y="1984248"/>
            <a:ext cx="2670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Effect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471416" y="2606040"/>
            <a:ext cx="318211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 runs the highest average demand, while weekend demand sits roughly 13% lower.</a:t>
            </a:r>
            <a:endParaRPr lang="en-US" sz="1030" dirty="0"/>
          </a:p>
        </p:txBody>
      </p:sp>
      <p:sp>
        <p:nvSpPr>
          <p:cNvPr id="16" name="Shape 12"/>
          <p:cNvSpPr/>
          <p:nvPr/>
        </p:nvSpPr>
        <p:spPr>
          <a:xfrm>
            <a:off x="7991856" y="1783080"/>
            <a:ext cx="358444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93024" y="1984248"/>
            <a:ext cx="457200" cy="457200"/>
          </a:xfrm>
          <a:prstGeom prst="ellipse">
            <a:avLst/>
          </a:prstGeom>
          <a:solidFill>
            <a:srgbClr val="00A6A6"/>
          </a:solidFill>
          <a:ln/>
        </p:spPr>
      </p:sp>
      <p:pic>
        <p:nvPicPr>
          <p:cNvPr id="18" name="Image 2" descr="/home/claude/smartgrid_ppt/icons/trenddow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1896" y="2103120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769096" y="1984248"/>
            <a:ext cx="2670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Swing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193024" y="2606040"/>
            <a:ext cx="318211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is the highest-demand month and August the lowest — a clear winter/summer split.</a:t>
            </a:r>
            <a:endParaRPr lang="en-US" sz="1030" dirty="0"/>
          </a:p>
        </p:txBody>
      </p:sp>
      <p:sp>
        <p:nvSpPr>
          <p:cNvPr id="21" name="Shape 16"/>
          <p:cNvSpPr/>
          <p:nvPr/>
        </p:nvSpPr>
        <p:spPr>
          <a:xfrm>
            <a:off x="548640" y="3931920"/>
            <a:ext cx="358444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49808" y="4133088"/>
            <a:ext cx="457200" cy="457200"/>
          </a:xfrm>
          <a:prstGeom prst="ellipse">
            <a:avLst/>
          </a:prstGeom>
          <a:solidFill>
            <a:srgbClr val="00A6A6"/>
          </a:solidFill>
          <a:ln/>
        </p:spPr>
      </p:sp>
      <p:pic>
        <p:nvPicPr>
          <p:cNvPr id="23" name="Image 3" descr="/home/claude/smartgrid_ppt/icons/su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251960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25880" y="4133088"/>
            <a:ext cx="2670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Timing Gap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749808" y="4754880"/>
            <a:ext cx="318211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generation peaks at midday, well before the evening demand peak — a mismatch for planning.</a:t>
            </a:r>
            <a:endParaRPr lang="en-US" sz="1030" dirty="0"/>
          </a:p>
        </p:txBody>
      </p:sp>
      <p:sp>
        <p:nvSpPr>
          <p:cNvPr id="26" name="Shape 20"/>
          <p:cNvSpPr/>
          <p:nvPr/>
        </p:nvSpPr>
        <p:spPr>
          <a:xfrm>
            <a:off x="4270248" y="3931920"/>
            <a:ext cx="358444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471416" y="4133088"/>
            <a:ext cx="457200" cy="457200"/>
          </a:xfrm>
          <a:prstGeom prst="ellipse">
            <a:avLst/>
          </a:prstGeom>
          <a:solidFill>
            <a:srgbClr val="00A6A6"/>
          </a:solidFill>
          <a:ln/>
        </p:spPr>
      </p:sp>
      <p:pic>
        <p:nvPicPr>
          <p:cNvPr id="28" name="Image 4" descr="/home/claude/smartgrid_ppt/icons/activity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0288" y="4251960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047488" y="4133088"/>
            <a:ext cx="2670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Predictor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4471416" y="4754880"/>
            <a:ext cx="318211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24 hours earlier is by far the most influential model feature, followed by demand 7 days earlier.</a:t>
            </a:r>
            <a:endParaRPr lang="en-US" sz="1030" dirty="0"/>
          </a:p>
        </p:txBody>
      </p:sp>
      <p:sp>
        <p:nvSpPr>
          <p:cNvPr id="31" name="Shape 24"/>
          <p:cNvSpPr/>
          <p:nvPr/>
        </p:nvSpPr>
        <p:spPr>
          <a:xfrm>
            <a:off x="7991856" y="3931920"/>
            <a:ext cx="358444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193024" y="4133088"/>
            <a:ext cx="457200" cy="457200"/>
          </a:xfrm>
          <a:prstGeom prst="ellipse">
            <a:avLst/>
          </a:prstGeom>
          <a:solidFill>
            <a:srgbClr val="00A6A6"/>
          </a:solidFill>
          <a:ln/>
        </p:spPr>
      </p:sp>
      <p:pic>
        <p:nvPicPr>
          <p:cNvPr id="33" name="Image 5" descr="/home/claude/smartgrid_ppt/icons/cpu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1896" y="4251960"/>
            <a:ext cx="219456" cy="21945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769096" y="4133088"/>
            <a:ext cx="2670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Accuracy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8193024" y="4754880"/>
            <a:ext cx="318211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selected Random Forest model reaches 95% accuracy (MAPE 5.00%) on unseen test data.</a:t>
            </a:r>
            <a:endParaRPr lang="en-US" sz="1030" dirty="0"/>
          </a:p>
        </p:txBody>
      </p:sp>
      <p:sp>
        <p:nvSpPr>
          <p:cNvPr id="36" name="Text 2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GRID ELECTRICITY DEMAND FORECASTING</a:t>
            </a:r>
            <a:endParaRPr lang="en-US" sz="800" dirty="0"/>
          </a:p>
        </p:txBody>
      </p:sp>
      <p:sp>
        <p:nvSpPr>
          <p:cNvPr id="37" name="Text 2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B1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0" y="1828800"/>
            <a:ext cx="0" cy="4389120"/>
          </a:xfrm>
          <a:prstGeom prst="line">
            <a:avLst/>
          </a:prstGeom>
          <a:noFill/>
          <a:ln w="19050">
            <a:solidFill>
              <a:srgbClr val="2328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10896" cy="310896"/>
          </a:xfrm>
          <a:prstGeom prst="ellipse">
            <a:avLst/>
          </a:prstGeom>
          <a:solidFill>
            <a:srgbClr val="00A6A6"/>
          </a:solidFill>
          <a:ln/>
        </p:spPr>
      </p:sp>
      <p:pic>
        <p:nvPicPr>
          <p:cNvPr id="9" name="Image 0" descr="/home/claude/smartgrid_ppt/icons/check_grap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2348179"/>
            <a:ext cx="186538" cy="18653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05840" y="221284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England &amp; Wales electricity data (2021–2025) was analyzed in depth.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971800"/>
            <a:ext cx="310896" cy="310896"/>
          </a:xfrm>
          <a:prstGeom prst="ellipse">
            <a:avLst/>
          </a:prstGeom>
          <a:solidFill>
            <a:srgbClr val="00A6A6"/>
          </a:solidFill>
          <a:ln/>
        </p:spPr>
      </p:sp>
      <p:pic>
        <p:nvPicPr>
          <p:cNvPr id="12" name="Image 1" descr="/home/claude/smartgrid_ppt/icons/check_grap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19" y="3033979"/>
            <a:ext cx="186538" cy="1865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289864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daily, weekly and seasonal demand patterns were identified.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657600"/>
            <a:ext cx="310896" cy="310896"/>
          </a:xfrm>
          <a:prstGeom prst="ellipse">
            <a:avLst/>
          </a:prstGeom>
          <a:solidFill>
            <a:srgbClr val="00A6A6"/>
          </a:solidFill>
          <a:ln/>
        </p:spPr>
      </p:sp>
      <p:pic>
        <p:nvPicPr>
          <p:cNvPr id="15" name="Image 2" descr="/home/claude/smartgrid_ppt/icons/check_grap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" y="3719779"/>
            <a:ext cx="186538" cy="18653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05840" y="358444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and feature engineering prepared the data for modeling.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4343400"/>
            <a:ext cx="310896" cy="310896"/>
          </a:xfrm>
          <a:prstGeom prst="ellipse">
            <a:avLst/>
          </a:prstGeom>
          <a:solidFill>
            <a:srgbClr val="00A6A6"/>
          </a:solidFill>
          <a:ln/>
        </p:spPr>
      </p:sp>
      <p:pic>
        <p:nvPicPr>
          <p:cNvPr id="18" name="Image 3" descr="/home/claude/smartgrid_ppt/icons/check_grap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" y="4405579"/>
            <a:ext cx="186538" cy="18653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05840" y="427024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Forest model forecasts demand with 95% accuracy on unseen data.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5029200"/>
            <a:ext cx="310896" cy="310896"/>
          </a:xfrm>
          <a:prstGeom prst="ellipse">
            <a:avLst/>
          </a:prstGeom>
          <a:solidFill>
            <a:srgbClr val="00A6A6"/>
          </a:solidFill>
          <a:ln/>
        </p:spPr>
      </p:sp>
      <p:pic>
        <p:nvPicPr>
          <p:cNvPr id="21" name="Image 4" descr="/home/claude/smartgrid_ppt/icons/check_grap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19" y="5091379"/>
            <a:ext cx="186538" cy="18653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05840" y="495604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turned the analysis into an interactive, decision-ready dashboard.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6263640" y="1828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263640" y="2286000"/>
            <a:ext cx="310896" cy="310896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5" name="Image 5" descr="/home/claude/smartgrid_ppt/icons/arrowright_grap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5819" y="2348179"/>
            <a:ext cx="186538" cy="18653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20840" y="221284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electricity and weather data integration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6263640" y="2971800"/>
            <a:ext cx="310896" cy="310896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8" name="Image 6" descr="/home/claude/smartgrid_ppt/icons/arrowright_grap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5819" y="3033979"/>
            <a:ext cx="186538" cy="18653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720840" y="289864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time-series forecasting (e.g. deep learning)</a:t>
            </a:r>
            <a:endParaRPr lang="en-US" sz="1150" dirty="0"/>
          </a:p>
        </p:txBody>
      </p:sp>
      <p:sp>
        <p:nvSpPr>
          <p:cNvPr id="30" name="Shape 21"/>
          <p:cNvSpPr/>
          <p:nvPr/>
        </p:nvSpPr>
        <p:spPr>
          <a:xfrm>
            <a:off x="6263640" y="3657600"/>
            <a:ext cx="310896" cy="310896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1" name="Image 7" descr="/home/claude/smartgrid_ppt/icons/arrowright_grap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5819" y="3719779"/>
            <a:ext cx="186538" cy="186538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720840" y="358444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renewable-energy variable coverage</a:t>
            </a:r>
            <a:endParaRPr lang="en-US" sz="1150" dirty="0"/>
          </a:p>
        </p:txBody>
      </p:sp>
      <p:sp>
        <p:nvSpPr>
          <p:cNvPr id="33" name="Shape 23"/>
          <p:cNvSpPr/>
          <p:nvPr/>
        </p:nvSpPr>
        <p:spPr>
          <a:xfrm>
            <a:off x="6263640" y="4343400"/>
            <a:ext cx="310896" cy="310896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4" name="Image 8" descr="/home/claude/smartgrid_ppt/icons/arrowright_grap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5819" y="4405579"/>
            <a:ext cx="186538" cy="186538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6720840" y="427024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Power BI monitoring with automated refresh</a:t>
            </a:r>
            <a:endParaRPr lang="en-US" sz="1150" dirty="0"/>
          </a:p>
        </p:txBody>
      </p:sp>
      <p:sp>
        <p:nvSpPr>
          <p:cNvPr id="36" name="Shape 25"/>
          <p:cNvSpPr/>
          <p:nvPr/>
        </p:nvSpPr>
        <p:spPr>
          <a:xfrm>
            <a:off x="6263640" y="5029200"/>
            <a:ext cx="310896" cy="310896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7" name="Image 9" descr="/home/claude/smartgrid_ppt/icons/arrowright_grap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5819" y="5091379"/>
            <a:ext cx="186538" cy="186538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6720840" y="495604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as a production forecasting application</a:t>
            </a:r>
            <a:endParaRPr lang="en-US" sz="1150" dirty="0"/>
          </a:p>
        </p:txBody>
      </p:sp>
      <p:sp>
        <p:nvSpPr>
          <p:cNvPr id="39" name="Text 2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AEB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GRID ELECTRICITY DEMAND FORECASTING</a:t>
            </a:r>
            <a:endParaRPr lang="en-US" sz="800" dirty="0"/>
          </a:p>
        </p:txBody>
      </p:sp>
      <p:sp>
        <p:nvSpPr>
          <p:cNvPr id="40" name="Text 2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EB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B1F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4572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3716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8288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22860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27432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4572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9144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13716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18288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2860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7432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15" name="Shape 13"/>
          <p:cNvSpPr/>
          <p:nvPr/>
        </p:nvSpPr>
        <p:spPr>
          <a:xfrm>
            <a:off x="1188720" y="4572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88720" y="9144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17" name="Shape 15"/>
          <p:cNvSpPr/>
          <p:nvPr/>
        </p:nvSpPr>
        <p:spPr>
          <a:xfrm>
            <a:off x="1188720" y="13716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18" name="Shape 16"/>
          <p:cNvSpPr/>
          <p:nvPr/>
        </p:nvSpPr>
        <p:spPr>
          <a:xfrm>
            <a:off x="1188720" y="18288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19" name="Shape 17"/>
          <p:cNvSpPr/>
          <p:nvPr/>
        </p:nvSpPr>
        <p:spPr>
          <a:xfrm>
            <a:off x="1188720" y="22860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20" name="Shape 18"/>
          <p:cNvSpPr/>
          <p:nvPr/>
        </p:nvSpPr>
        <p:spPr>
          <a:xfrm>
            <a:off x="1188720" y="27432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21" name="Shape 19"/>
          <p:cNvSpPr/>
          <p:nvPr/>
        </p:nvSpPr>
        <p:spPr>
          <a:xfrm>
            <a:off x="1645920" y="4572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22" name="Shape 20"/>
          <p:cNvSpPr/>
          <p:nvPr/>
        </p:nvSpPr>
        <p:spPr>
          <a:xfrm>
            <a:off x="1645920" y="9144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23" name="Shape 21"/>
          <p:cNvSpPr/>
          <p:nvPr/>
        </p:nvSpPr>
        <p:spPr>
          <a:xfrm>
            <a:off x="1645920" y="13716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24" name="Shape 22"/>
          <p:cNvSpPr/>
          <p:nvPr/>
        </p:nvSpPr>
        <p:spPr>
          <a:xfrm>
            <a:off x="1645920" y="18288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25" name="Shape 23"/>
          <p:cNvSpPr/>
          <p:nvPr/>
        </p:nvSpPr>
        <p:spPr>
          <a:xfrm>
            <a:off x="1645920" y="22860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26" name="Shape 24"/>
          <p:cNvSpPr/>
          <p:nvPr/>
        </p:nvSpPr>
        <p:spPr>
          <a:xfrm>
            <a:off x="1645920" y="27432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27" name="Shape 25"/>
          <p:cNvSpPr/>
          <p:nvPr/>
        </p:nvSpPr>
        <p:spPr>
          <a:xfrm>
            <a:off x="2103120" y="4572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28" name="Shape 26"/>
          <p:cNvSpPr/>
          <p:nvPr/>
        </p:nvSpPr>
        <p:spPr>
          <a:xfrm>
            <a:off x="2103120" y="9144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29" name="Shape 27"/>
          <p:cNvSpPr/>
          <p:nvPr/>
        </p:nvSpPr>
        <p:spPr>
          <a:xfrm>
            <a:off x="2103120" y="13716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30" name="Shape 28"/>
          <p:cNvSpPr/>
          <p:nvPr/>
        </p:nvSpPr>
        <p:spPr>
          <a:xfrm>
            <a:off x="2103120" y="18288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31" name="Shape 29"/>
          <p:cNvSpPr/>
          <p:nvPr/>
        </p:nvSpPr>
        <p:spPr>
          <a:xfrm>
            <a:off x="2103120" y="22860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32" name="Shape 30"/>
          <p:cNvSpPr/>
          <p:nvPr/>
        </p:nvSpPr>
        <p:spPr>
          <a:xfrm>
            <a:off x="2103120" y="27432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33" name="Shape 31"/>
          <p:cNvSpPr/>
          <p:nvPr/>
        </p:nvSpPr>
        <p:spPr>
          <a:xfrm>
            <a:off x="2560320" y="4572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34" name="Shape 32"/>
          <p:cNvSpPr/>
          <p:nvPr/>
        </p:nvSpPr>
        <p:spPr>
          <a:xfrm>
            <a:off x="2560320" y="9144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35" name="Shape 33"/>
          <p:cNvSpPr/>
          <p:nvPr/>
        </p:nvSpPr>
        <p:spPr>
          <a:xfrm>
            <a:off x="2560320" y="13716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36" name="Shape 34"/>
          <p:cNvSpPr/>
          <p:nvPr/>
        </p:nvSpPr>
        <p:spPr>
          <a:xfrm>
            <a:off x="2560320" y="18288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37" name="Shape 35"/>
          <p:cNvSpPr/>
          <p:nvPr/>
        </p:nvSpPr>
        <p:spPr>
          <a:xfrm>
            <a:off x="2560320" y="22860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38" name="Shape 36"/>
          <p:cNvSpPr/>
          <p:nvPr/>
        </p:nvSpPr>
        <p:spPr>
          <a:xfrm>
            <a:off x="2560320" y="27432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39" name="Shape 37"/>
          <p:cNvSpPr/>
          <p:nvPr/>
        </p:nvSpPr>
        <p:spPr>
          <a:xfrm>
            <a:off x="3017520" y="4572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40" name="Shape 38"/>
          <p:cNvSpPr/>
          <p:nvPr/>
        </p:nvSpPr>
        <p:spPr>
          <a:xfrm>
            <a:off x="3017520" y="9144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41" name="Shape 39"/>
          <p:cNvSpPr/>
          <p:nvPr/>
        </p:nvSpPr>
        <p:spPr>
          <a:xfrm>
            <a:off x="3017520" y="13716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42" name="Shape 40"/>
          <p:cNvSpPr/>
          <p:nvPr/>
        </p:nvSpPr>
        <p:spPr>
          <a:xfrm>
            <a:off x="3017520" y="18288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43" name="Shape 41"/>
          <p:cNvSpPr/>
          <p:nvPr/>
        </p:nvSpPr>
        <p:spPr>
          <a:xfrm>
            <a:off x="3017520" y="22860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44" name="Shape 42"/>
          <p:cNvSpPr/>
          <p:nvPr/>
        </p:nvSpPr>
        <p:spPr>
          <a:xfrm>
            <a:off x="3017520" y="27432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45" name="Shape 43"/>
          <p:cNvSpPr/>
          <p:nvPr/>
        </p:nvSpPr>
        <p:spPr>
          <a:xfrm>
            <a:off x="3474720" y="4572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46" name="Shape 44"/>
          <p:cNvSpPr/>
          <p:nvPr/>
        </p:nvSpPr>
        <p:spPr>
          <a:xfrm>
            <a:off x="3474720" y="9144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47" name="Shape 45"/>
          <p:cNvSpPr/>
          <p:nvPr/>
        </p:nvSpPr>
        <p:spPr>
          <a:xfrm>
            <a:off x="3474720" y="13716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48" name="Shape 46"/>
          <p:cNvSpPr/>
          <p:nvPr/>
        </p:nvSpPr>
        <p:spPr>
          <a:xfrm>
            <a:off x="3474720" y="18288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49" name="Shape 47"/>
          <p:cNvSpPr/>
          <p:nvPr/>
        </p:nvSpPr>
        <p:spPr>
          <a:xfrm>
            <a:off x="3474720" y="22860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50" name="Shape 48"/>
          <p:cNvSpPr/>
          <p:nvPr/>
        </p:nvSpPr>
        <p:spPr>
          <a:xfrm>
            <a:off x="3474720" y="27432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51" name="Shape 49"/>
          <p:cNvSpPr/>
          <p:nvPr/>
        </p:nvSpPr>
        <p:spPr>
          <a:xfrm>
            <a:off x="3931920" y="4572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52" name="Shape 50"/>
          <p:cNvSpPr/>
          <p:nvPr/>
        </p:nvSpPr>
        <p:spPr>
          <a:xfrm>
            <a:off x="3931920" y="9144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53" name="Shape 51"/>
          <p:cNvSpPr/>
          <p:nvPr/>
        </p:nvSpPr>
        <p:spPr>
          <a:xfrm>
            <a:off x="3931920" y="13716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54" name="Shape 52"/>
          <p:cNvSpPr/>
          <p:nvPr/>
        </p:nvSpPr>
        <p:spPr>
          <a:xfrm>
            <a:off x="3931920" y="18288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55" name="Shape 53"/>
          <p:cNvSpPr/>
          <p:nvPr/>
        </p:nvSpPr>
        <p:spPr>
          <a:xfrm>
            <a:off x="3931920" y="22860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56" name="Shape 54"/>
          <p:cNvSpPr/>
          <p:nvPr/>
        </p:nvSpPr>
        <p:spPr>
          <a:xfrm>
            <a:off x="3931920" y="27432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57" name="Shape 55"/>
          <p:cNvSpPr/>
          <p:nvPr/>
        </p:nvSpPr>
        <p:spPr>
          <a:xfrm>
            <a:off x="4389120" y="4572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58" name="Shape 56"/>
          <p:cNvSpPr/>
          <p:nvPr/>
        </p:nvSpPr>
        <p:spPr>
          <a:xfrm>
            <a:off x="4389120" y="9144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59" name="Shape 57"/>
          <p:cNvSpPr/>
          <p:nvPr/>
        </p:nvSpPr>
        <p:spPr>
          <a:xfrm>
            <a:off x="4389120" y="13716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60" name="Shape 58"/>
          <p:cNvSpPr/>
          <p:nvPr/>
        </p:nvSpPr>
        <p:spPr>
          <a:xfrm>
            <a:off x="4389120" y="18288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61" name="Shape 59"/>
          <p:cNvSpPr/>
          <p:nvPr/>
        </p:nvSpPr>
        <p:spPr>
          <a:xfrm>
            <a:off x="4389120" y="22860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62" name="Shape 60"/>
          <p:cNvSpPr/>
          <p:nvPr/>
        </p:nvSpPr>
        <p:spPr>
          <a:xfrm>
            <a:off x="4389120" y="2743200"/>
            <a:ext cx="32004" cy="320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63" name="Shape 61"/>
          <p:cNvSpPr/>
          <p:nvPr/>
        </p:nvSpPr>
        <p:spPr>
          <a:xfrm>
            <a:off x="5547208" y="1417320"/>
            <a:ext cx="1097280" cy="109728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64" name="Image 0" descr="/home/claude/smartgrid_ppt/icons/bolt_grap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500" y="1702613"/>
            <a:ext cx="526694" cy="526694"/>
          </a:xfrm>
          <a:prstGeom prst="rect">
            <a:avLst/>
          </a:prstGeom>
        </p:spPr>
      </p:pic>
      <p:sp>
        <p:nvSpPr>
          <p:cNvPr id="65" name="Text 62"/>
          <p:cNvSpPr/>
          <p:nvPr/>
        </p:nvSpPr>
        <p:spPr>
          <a:xfrm>
            <a:off x="0" y="278892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6" name="Text 63"/>
          <p:cNvSpPr/>
          <p:nvPr/>
        </p:nvSpPr>
        <p:spPr>
          <a:xfrm>
            <a:off x="0" y="3520440"/>
            <a:ext cx="12191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spc="100" kern="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500" dirty="0"/>
          </a:p>
        </p:txBody>
      </p:sp>
      <p:sp>
        <p:nvSpPr>
          <p:cNvPr id="67" name="Shape 64"/>
          <p:cNvSpPr/>
          <p:nvPr/>
        </p:nvSpPr>
        <p:spPr>
          <a:xfrm>
            <a:off x="5638648" y="4160520"/>
            <a:ext cx="914400" cy="0"/>
          </a:xfrm>
          <a:prstGeom prst="line">
            <a:avLst/>
          </a:prstGeom>
          <a:noFill/>
          <a:ln w="25400">
            <a:solidFill>
              <a:srgbClr val="F4B942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0" y="43434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P</a:t>
            </a:r>
            <a:endParaRPr lang="en-US" sz="1600" dirty="0"/>
          </a:p>
        </p:txBody>
      </p:sp>
      <p:sp>
        <p:nvSpPr>
          <p:cNvPr id="69" name="Text 66"/>
          <p:cNvSpPr/>
          <p:nvPr/>
        </p:nvSpPr>
        <p:spPr>
          <a:xfrm>
            <a:off x="0" y="4681728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EB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 |  BCom (CA)</a:t>
            </a:r>
            <a:endParaRPr lang="en-US" sz="1150" dirty="0"/>
          </a:p>
        </p:txBody>
      </p:sp>
      <p:sp>
        <p:nvSpPr>
          <p:cNvPr id="70" name="Text 67"/>
          <p:cNvSpPr/>
          <p:nvPr/>
        </p:nvSpPr>
        <p:spPr>
          <a:xfrm>
            <a:off x="0" y="502920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AEB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Grid Electricity Demand Forecasting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2026-09-25T06:18:44Z</dcterms:created>
  <dcterms:modified xsi:type="dcterms:W3CDTF">2026-09-25T06:18:44Z</dcterms:modified>
</cp:coreProperties>
</file>